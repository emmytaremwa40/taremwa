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426" r:id="rId3"/>
    <p:sldId id="427" r:id="rId4"/>
    <p:sldId id="428" r:id="rId5"/>
    <p:sldId id="429" r:id="rId6"/>
    <p:sldId id="430" r:id="rId7"/>
    <p:sldId id="435" r:id="rId8"/>
    <p:sldId id="436" r:id="rId9"/>
    <p:sldId id="437" r:id="rId10"/>
    <p:sldId id="451" r:id="rId11"/>
    <p:sldId id="449" r:id="rId12"/>
    <p:sldId id="450" r:id="rId13"/>
    <p:sldId id="438" r:id="rId14"/>
    <p:sldId id="468" r:id="rId15"/>
    <p:sldId id="439" r:id="rId16"/>
    <p:sldId id="441" r:id="rId17"/>
    <p:sldId id="440" r:id="rId18"/>
    <p:sldId id="442" r:id="rId19"/>
    <p:sldId id="443" r:id="rId20"/>
    <p:sldId id="444" r:id="rId21"/>
    <p:sldId id="445" r:id="rId22"/>
    <p:sldId id="446" r:id="rId23"/>
    <p:sldId id="447" r:id="rId24"/>
    <p:sldId id="448" r:id="rId25"/>
    <p:sldId id="452" r:id="rId26"/>
    <p:sldId id="453" r:id="rId27"/>
    <p:sldId id="454" r:id="rId28"/>
    <p:sldId id="455" r:id="rId29"/>
    <p:sldId id="459" r:id="rId30"/>
    <p:sldId id="460" r:id="rId31"/>
    <p:sldId id="461" r:id="rId32"/>
    <p:sldId id="469" r:id="rId33"/>
    <p:sldId id="470"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w Karitani" initials="AK" lastIdx="1" clrIdx="0">
    <p:extLst>
      <p:ext uri="{19B8F6BF-5375-455C-9EA6-DF929625EA0E}">
        <p15:presenceInfo xmlns:p15="http://schemas.microsoft.com/office/powerpoint/2012/main" userId="b5298f2a3991fa3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45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7D6C0E-E357-4F3E-8726-0AE6114DCCB3}" type="datetimeFigureOut">
              <a:rPr lang="en-UG" smtClean="0"/>
              <a:t>29/08/2025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182300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7D6C0E-E357-4F3E-8726-0AE6114DCCB3}" type="datetimeFigureOut">
              <a:rPr lang="en-UG" smtClean="0"/>
              <a:t>29/08/2025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3437781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7D6C0E-E357-4F3E-8726-0AE6114DCCB3}" type="datetimeFigureOut">
              <a:rPr lang="en-UG" smtClean="0"/>
              <a:t>29/08/2025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1797664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7D6C0E-E357-4F3E-8726-0AE6114DCCB3}" type="datetimeFigureOut">
              <a:rPr lang="en-UG" smtClean="0"/>
              <a:t>29/08/2025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3497058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7D6C0E-E357-4F3E-8726-0AE6114DCCB3}" type="datetimeFigureOut">
              <a:rPr lang="en-UG" smtClean="0"/>
              <a:t>29/08/2025</a:t>
            </a:fld>
            <a:endParaRPr lang="en-UG"/>
          </a:p>
        </p:txBody>
      </p:sp>
      <p:sp>
        <p:nvSpPr>
          <p:cNvPr id="8" name="Footer Placeholder 7"/>
          <p:cNvSpPr>
            <a:spLocks noGrp="1"/>
          </p:cNvSpPr>
          <p:nvPr>
            <p:ph type="ftr" sz="quarter" idx="11"/>
          </p:nvPr>
        </p:nvSpPr>
        <p:spPr/>
        <p:txBody>
          <a:bodyPr/>
          <a:lstStyle/>
          <a:p>
            <a:endParaRPr lang="en-UG"/>
          </a:p>
        </p:txBody>
      </p:sp>
      <p:sp>
        <p:nvSpPr>
          <p:cNvPr id="9" name="Slide Number Placeholder 8"/>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3288022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7D6C0E-E357-4F3E-8726-0AE6114DCCB3}" type="datetimeFigureOut">
              <a:rPr lang="en-UG" smtClean="0"/>
              <a:t>29/08/2025</a:t>
            </a:fld>
            <a:endParaRPr lang="en-UG"/>
          </a:p>
        </p:txBody>
      </p:sp>
      <p:sp>
        <p:nvSpPr>
          <p:cNvPr id="4" name="Footer Placeholder 3"/>
          <p:cNvSpPr>
            <a:spLocks noGrp="1"/>
          </p:cNvSpPr>
          <p:nvPr>
            <p:ph type="ftr" sz="quarter" idx="11"/>
          </p:nvPr>
        </p:nvSpPr>
        <p:spPr/>
        <p:txBody>
          <a:bodyPr/>
          <a:lstStyle/>
          <a:p>
            <a:endParaRPr lang="en-UG"/>
          </a:p>
        </p:txBody>
      </p:sp>
      <p:sp>
        <p:nvSpPr>
          <p:cNvPr id="5" name="Slide Number Placeholder 4"/>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3062619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7D6C0E-E357-4F3E-8726-0AE6114DCCB3}" type="datetimeFigureOut">
              <a:rPr lang="en-UG" smtClean="0"/>
              <a:t>29/08/2025</a:t>
            </a:fld>
            <a:endParaRPr lang="en-UG"/>
          </a:p>
        </p:txBody>
      </p:sp>
      <p:sp>
        <p:nvSpPr>
          <p:cNvPr id="3" name="Footer Placeholder 2"/>
          <p:cNvSpPr>
            <a:spLocks noGrp="1"/>
          </p:cNvSpPr>
          <p:nvPr>
            <p:ph type="ftr" sz="quarter" idx="11"/>
          </p:nvPr>
        </p:nvSpPr>
        <p:spPr/>
        <p:txBody>
          <a:bodyPr/>
          <a:lstStyle/>
          <a:p>
            <a:endParaRPr lang="en-UG"/>
          </a:p>
        </p:txBody>
      </p:sp>
      <p:sp>
        <p:nvSpPr>
          <p:cNvPr id="4" name="Slide Number Placeholder 3"/>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3572597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97D6C0E-E357-4F3E-8726-0AE6114DCCB3}" type="datetimeFigureOut">
              <a:rPr lang="en-UG" smtClean="0"/>
              <a:t>29/08/2025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1648406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97D6C0E-E357-4F3E-8726-0AE6114DCCB3}" type="datetimeFigureOut">
              <a:rPr lang="en-UG" smtClean="0"/>
              <a:t>29/08/2025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4016752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7D6C0E-E357-4F3E-8726-0AE6114DCCB3}" type="datetimeFigureOut">
              <a:rPr lang="en-UG" smtClean="0"/>
              <a:t>29/08/2025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554813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7D6C0E-E357-4F3E-8726-0AE6114DCCB3}" type="datetimeFigureOut">
              <a:rPr lang="en-UG" smtClean="0"/>
              <a:t>29/08/2025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0E3E1D87-733B-4F87-9192-EE6252D0B7DB}" type="slidenum">
              <a:rPr lang="en-UG" smtClean="0"/>
              <a:t>‹#›</a:t>
            </a:fld>
            <a:endParaRPr lang="en-UG"/>
          </a:p>
        </p:txBody>
      </p:sp>
    </p:spTree>
    <p:extLst>
      <p:ext uri="{BB962C8B-B14F-4D97-AF65-F5344CB8AC3E}">
        <p14:creationId xmlns:p14="http://schemas.microsoft.com/office/powerpoint/2010/main" val="1046812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7D6C0E-E357-4F3E-8726-0AE6114DCCB3}" type="datetimeFigureOut">
              <a:rPr lang="en-UG" smtClean="0"/>
              <a:t>29/08/2025</a:t>
            </a:fld>
            <a:endParaRPr lang="en-U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G"/>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3E1D87-733B-4F87-9192-EE6252D0B7DB}" type="slidenum">
              <a:rPr lang="en-UG" smtClean="0"/>
              <a:t>‹#›</a:t>
            </a:fld>
            <a:endParaRPr lang="en-UG"/>
          </a:p>
        </p:txBody>
      </p:sp>
    </p:spTree>
    <p:extLst>
      <p:ext uri="{BB962C8B-B14F-4D97-AF65-F5344CB8AC3E}">
        <p14:creationId xmlns:p14="http://schemas.microsoft.com/office/powerpoint/2010/main" val="19299362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ADB2C7-55AE-4778-8EA9-0C9D4616E612}"/>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Computer Hardware</a:t>
            </a:r>
            <a:endParaRPr lang="en-UG" sz="3600" dirty="0">
              <a:solidFill>
                <a:srgbClr val="0070C0"/>
              </a:solidFill>
              <a:latin typeface="Baskerville Old Face" pitchFamily="18" charset="0"/>
            </a:endParaRPr>
          </a:p>
        </p:txBody>
      </p:sp>
      <p:sp>
        <p:nvSpPr>
          <p:cNvPr id="5" name="Content Placeholder 4">
            <a:extLst>
              <a:ext uri="{FF2B5EF4-FFF2-40B4-BE49-F238E27FC236}">
                <a16:creationId xmlns:a16="http://schemas.microsoft.com/office/drawing/2014/main" id="{069FB48D-22CA-4F5A-8D60-7872A87E686F}"/>
              </a:ext>
            </a:extLst>
          </p:cNvPr>
          <p:cNvSpPr>
            <a:spLocks noGrp="1"/>
          </p:cNvSpPr>
          <p:nvPr>
            <p:ph idx="1"/>
          </p:nvPr>
        </p:nvSpPr>
        <p:spPr/>
        <p:txBody>
          <a:bodyPr>
            <a:normAutofit fontScale="77500" lnSpcReduction="20000"/>
          </a:bodyPr>
          <a:lstStyle/>
          <a:p>
            <a:endParaRPr lang="en-UG" dirty="0"/>
          </a:p>
          <a:p>
            <a:r>
              <a:rPr lang="en-US" dirty="0"/>
              <a:t>Definitions </a:t>
            </a:r>
          </a:p>
          <a:p>
            <a:r>
              <a:rPr lang="en-US" dirty="0"/>
              <a:t>The Computer System </a:t>
            </a:r>
          </a:p>
          <a:p>
            <a:r>
              <a:rPr lang="en-US" dirty="0"/>
              <a:t>Parts of the computer system </a:t>
            </a:r>
          </a:p>
          <a:p>
            <a:r>
              <a:rPr lang="en-US" dirty="0"/>
              <a:t> What makes up the system unit </a:t>
            </a:r>
          </a:p>
          <a:p>
            <a:r>
              <a:rPr lang="en-US" dirty="0"/>
              <a:t>Storage devices </a:t>
            </a:r>
          </a:p>
          <a:p>
            <a:r>
              <a:rPr lang="en-US" dirty="0"/>
              <a:t> How to connect the different peripherals together? </a:t>
            </a:r>
          </a:p>
          <a:p>
            <a:r>
              <a:rPr lang="en-US" dirty="0"/>
              <a:t> Booting </a:t>
            </a:r>
          </a:p>
          <a:p>
            <a:r>
              <a:rPr lang="en-US" dirty="0"/>
              <a:t> Memory </a:t>
            </a:r>
          </a:p>
          <a:p>
            <a:r>
              <a:rPr lang="en-US" dirty="0"/>
              <a:t> Input devices </a:t>
            </a:r>
          </a:p>
          <a:p>
            <a:r>
              <a:rPr lang="en-US" dirty="0"/>
              <a:t> Output Devices </a:t>
            </a:r>
          </a:p>
          <a:p>
            <a:r>
              <a:rPr lang="en-UG" dirty="0"/>
              <a:t>	</a:t>
            </a:r>
          </a:p>
          <a:p>
            <a:endParaRPr lang="en-UG" dirty="0"/>
          </a:p>
        </p:txBody>
      </p:sp>
    </p:spTree>
    <p:extLst>
      <p:ext uri="{BB962C8B-B14F-4D97-AF65-F5344CB8AC3E}">
        <p14:creationId xmlns:p14="http://schemas.microsoft.com/office/powerpoint/2010/main" val="2645568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27CF9-EA3A-432C-9080-378CF7E64CC8}"/>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A Computer-definition</a:t>
            </a: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D34BC6C5-58E0-4BE6-93E5-6E36A4621372}"/>
              </a:ext>
            </a:extLst>
          </p:cNvPr>
          <p:cNvSpPr>
            <a:spLocks noGrp="1"/>
          </p:cNvSpPr>
          <p:nvPr>
            <p:ph idx="1"/>
          </p:nvPr>
        </p:nvSpPr>
        <p:spPr/>
        <p:txBody>
          <a:bodyPr vert="horz" lIns="68580" tIns="34290" rIns="68580" bIns="34290" rtlCol="0">
            <a:normAutofit fontScale="92500" lnSpcReduction="10000"/>
          </a:bodyPr>
          <a:lstStyle/>
          <a:p>
            <a:pPr algn="just">
              <a:lnSpc>
                <a:spcPct val="120000"/>
              </a:lnSpc>
              <a:buClr>
                <a:srgbClr val="C00000"/>
              </a:buClr>
              <a:buFont typeface="Wingdings" panose="05000000000000000000" pitchFamily="2" charset="2"/>
              <a:buChar char="v"/>
            </a:pPr>
            <a:r>
              <a:rPr lang="en-US" dirty="0"/>
              <a:t>A computer is an electronic device that processes data according to instructions provided by software programs. It takes input (data), processes it using a central processing unit (CPU), stores information, and produces output (results) to perform various tasks.</a:t>
            </a:r>
          </a:p>
          <a:p>
            <a:pPr algn="just">
              <a:lnSpc>
                <a:spcPct val="120000"/>
              </a:lnSpc>
              <a:buClr>
                <a:srgbClr val="C00000"/>
              </a:buClr>
              <a:buFont typeface="Wingdings" panose="05000000000000000000" pitchFamily="2" charset="2"/>
              <a:buChar char="v"/>
            </a:pPr>
            <a:r>
              <a:rPr lang="en-US" dirty="0"/>
              <a:t>A Computer an electronic programmable device that capable of accepting instructions(input/data), stores instructions in memory processes data , stores information and outputs the results.</a:t>
            </a:r>
            <a:endParaRPr lang="en-UG" dirty="0"/>
          </a:p>
        </p:txBody>
      </p:sp>
      <p:sp>
        <p:nvSpPr>
          <p:cNvPr id="4" name="Footer Placeholder 3">
            <a:extLst>
              <a:ext uri="{FF2B5EF4-FFF2-40B4-BE49-F238E27FC236}">
                <a16:creationId xmlns:a16="http://schemas.microsoft.com/office/drawing/2014/main" id="{6A040439-6C4F-4CDF-909B-982FEFEE02EE}"/>
              </a:ext>
            </a:extLst>
          </p:cNvPr>
          <p:cNvSpPr>
            <a:spLocks noGrp="1"/>
          </p:cNvSpPr>
          <p:nvPr>
            <p:ph type="ftr" sz="quarter" idx="11"/>
          </p:nvPr>
        </p:nvSpPr>
        <p:spPr/>
        <p:txBody>
          <a:bodyPr/>
          <a:lstStyle/>
          <a:p>
            <a:r>
              <a:rPr lang="en-US"/>
              <a:t>Andrew K. Tugume                                            andrtug@mmu.ac.ug  +256 782 or 703-726787</a:t>
            </a:r>
            <a:endParaRPr lang="en-UG"/>
          </a:p>
        </p:txBody>
      </p:sp>
    </p:spTree>
    <p:extLst>
      <p:ext uri="{BB962C8B-B14F-4D97-AF65-F5344CB8AC3E}">
        <p14:creationId xmlns:p14="http://schemas.microsoft.com/office/powerpoint/2010/main" val="2880062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20803A-3F9E-473A-AC05-0E05682FD3B8}"/>
              </a:ext>
            </a:extLst>
          </p:cNvPr>
          <p:cNvSpPr>
            <a:spLocks noGrp="1"/>
          </p:cNvSpPr>
          <p:nvPr>
            <p:ph idx="1"/>
          </p:nvPr>
        </p:nvSpPr>
        <p:spPr/>
        <p:txBody>
          <a:bodyPr vert="horz" lIns="68580" tIns="34290" rIns="68580" bIns="34290" rtlCol="0">
            <a:normAutofit fontScale="92500" lnSpcReduction="10000"/>
          </a:bodyPr>
          <a:lstStyle/>
          <a:p>
            <a:pPr algn="just">
              <a:lnSpc>
                <a:spcPct val="120000"/>
              </a:lnSpc>
              <a:buClr>
                <a:srgbClr val="C00000"/>
              </a:buClr>
              <a:buFont typeface="Wingdings" panose="05000000000000000000" pitchFamily="2" charset="2"/>
              <a:buChar char="v"/>
            </a:pPr>
            <a:r>
              <a:rPr lang="en-US" dirty="0"/>
              <a:t>A </a:t>
            </a:r>
            <a:r>
              <a:rPr lang="en-US" b="1" dirty="0"/>
              <a:t>computer</a:t>
            </a:r>
            <a:r>
              <a:rPr lang="en-US" dirty="0"/>
              <a:t> is a programmable machine that accepts input, processes it according to a set of stored instructions (a program), and produces output, all while capable of storing and retrieving data.</a:t>
            </a:r>
          </a:p>
          <a:p>
            <a:pPr algn="just">
              <a:lnSpc>
                <a:spcPct val="120000"/>
              </a:lnSpc>
              <a:buClr>
                <a:srgbClr val="C00000"/>
              </a:buClr>
              <a:buFont typeface="Wingdings" panose="05000000000000000000" pitchFamily="2" charset="2"/>
              <a:buChar char="v"/>
            </a:pPr>
            <a:r>
              <a:rPr lang="en-US" dirty="0"/>
              <a:t>A computer is an electronic device, operating under the control of instructions stored in its own memory that can accept data (input), process the data according to specified rules, produce information (output), and store the information for future use</a:t>
            </a:r>
            <a:endParaRPr lang="en-UG" dirty="0"/>
          </a:p>
        </p:txBody>
      </p:sp>
      <p:sp>
        <p:nvSpPr>
          <p:cNvPr id="4" name="Footer Placeholder 3">
            <a:extLst>
              <a:ext uri="{FF2B5EF4-FFF2-40B4-BE49-F238E27FC236}">
                <a16:creationId xmlns:a16="http://schemas.microsoft.com/office/drawing/2014/main" id="{F3CDB798-30C6-47D3-896D-ACF9998971A2}"/>
              </a:ext>
            </a:extLst>
          </p:cNvPr>
          <p:cNvSpPr>
            <a:spLocks noGrp="1"/>
          </p:cNvSpPr>
          <p:nvPr>
            <p:ph type="ftr" sz="quarter" idx="11"/>
          </p:nvPr>
        </p:nvSpPr>
        <p:spPr/>
        <p:txBody>
          <a:bodyPr/>
          <a:lstStyle/>
          <a:p>
            <a:r>
              <a:rPr lang="en-US"/>
              <a:t>Andrew K. Tugume                                            andrtug@mmu.ac.ug  +256 782 or 703-726787</a:t>
            </a:r>
            <a:endParaRPr lang="en-UG"/>
          </a:p>
        </p:txBody>
      </p:sp>
    </p:spTree>
    <p:extLst>
      <p:ext uri="{BB962C8B-B14F-4D97-AF65-F5344CB8AC3E}">
        <p14:creationId xmlns:p14="http://schemas.microsoft.com/office/powerpoint/2010/main" val="2242593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11F45-1DFE-4D00-976E-2D1BFE3FBD95}"/>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Functionalities of A Computer</a:t>
            </a: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34E18907-651B-4EED-9590-7CA080AA32CD}"/>
              </a:ext>
            </a:extLst>
          </p:cNvPr>
          <p:cNvSpPr>
            <a:spLocks noGrp="1"/>
          </p:cNvSpPr>
          <p:nvPr>
            <p:ph idx="1"/>
          </p:nvPr>
        </p:nvSpPr>
        <p:spPr>
          <a:xfrm>
            <a:off x="628651" y="1873045"/>
            <a:ext cx="8721826" cy="4350774"/>
          </a:xfrm>
        </p:spPr>
        <p:txBody>
          <a:bodyPr>
            <a:normAutofit/>
          </a:bodyPr>
          <a:lstStyle/>
          <a:p>
            <a:pPr marL="0" indent="0" algn="just">
              <a:buNone/>
            </a:pPr>
            <a:r>
              <a:rPr lang="en-US" dirty="0"/>
              <a:t>Any digital computer carries out five basic functions.</a:t>
            </a:r>
          </a:p>
          <a:p>
            <a:pPr marL="385763" indent="-385763" algn="just">
              <a:buFont typeface="+mj-lt"/>
              <a:buAutoNum type="arabicPeriod"/>
            </a:pPr>
            <a:r>
              <a:rPr lang="en-US" dirty="0"/>
              <a:t>Input:	 	Take data as input</a:t>
            </a:r>
          </a:p>
          <a:p>
            <a:pPr marL="385763" indent="-385763" algn="just">
              <a:buFont typeface="+mj-lt"/>
              <a:buAutoNum type="arabicPeriod"/>
            </a:pPr>
            <a:r>
              <a:rPr lang="en-US" dirty="0"/>
              <a:t>Storage:		Stores the data/instructions in its 				memory and uses them when 					required</a:t>
            </a:r>
          </a:p>
          <a:p>
            <a:pPr marL="385763" indent="-385763" algn="just">
              <a:buFont typeface="+mj-lt"/>
              <a:buAutoNum type="arabicPeriod"/>
            </a:pPr>
            <a:r>
              <a:rPr lang="en-US" dirty="0"/>
              <a:t>Processing:	Processes the data and converts it 				into information</a:t>
            </a:r>
          </a:p>
          <a:p>
            <a:pPr marL="385763" indent="-385763" algn="just">
              <a:buFont typeface="+mj-lt"/>
              <a:buAutoNum type="arabicPeriod"/>
            </a:pPr>
            <a:r>
              <a:rPr lang="en-US" dirty="0"/>
              <a:t>Output: 		Generates the output</a:t>
            </a:r>
          </a:p>
          <a:p>
            <a:pPr marL="385763" indent="-385763" algn="just">
              <a:buFont typeface="+mj-lt"/>
              <a:buAutoNum type="arabicPeriod"/>
            </a:pPr>
            <a:r>
              <a:rPr lang="en-US" dirty="0"/>
              <a:t>Control:		Controls all the above functions.</a:t>
            </a:r>
            <a:endParaRPr lang="en-UG" dirty="0"/>
          </a:p>
        </p:txBody>
      </p:sp>
      <p:sp>
        <p:nvSpPr>
          <p:cNvPr id="4" name="Footer Placeholder 3">
            <a:extLst>
              <a:ext uri="{FF2B5EF4-FFF2-40B4-BE49-F238E27FC236}">
                <a16:creationId xmlns:a16="http://schemas.microsoft.com/office/drawing/2014/main" id="{EED0069D-8982-4933-A7DD-C32717B9666A}"/>
              </a:ext>
            </a:extLst>
          </p:cNvPr>
          <p:cNvSpPr>
            <a:spLocks noGrp="1"/>
          </p:cNvSpPr>
          <p:nvPr>
            <p:ph type="ftr" sz="quarter" idx="11"/>
          </p:nvPr>
        </p:nvSpPr>
        <p:spPr/>
        <p:txBody>
          <a:bodyPr/>
          <a:lstStyle/>
          <a:p>
            <a:r>
              <a:rPr lang="en-US"/>
              <a:t>Andrew K. Tugume                                            andrtug@mmu.ac.ug  +256 782 or 703-726787</a:t>
            </a:r>
            <a:endParaRPr lang="en-UG"/>
          </a:p>
        </p:txBody>
      </p:sp>
    </p:spTree>
    <p:extLst>
      <p:ext uri="{BB962C8B-B14F-4D97-AF65-F5344CB8AC3E}">
        <p14:creationId xmlns:p14="http://schemas.microsoft.com/office/powerpoint/2010/main" val="1773596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1C578-9F03-4DE2-B0A2-974C850889D1}"/>
              </a:ext>
            </a:extLst>
          </p:cNvPr>
          <p:cNvSpPr>
            <a:spLocks noGrp="1"/>
          </p:cNvSpPr>
          <p:nvPr>
            <p:ph type="title"/>
          </p:nvPr>
        </p:nvSpPr>
        <p:spPr>
          <a:xfrm>
            <a:off x="628650" y="365127"/>
            <a:ext cx="7886700" cy="78765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A computer system</a:t>
            </a: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D5FFE061-B5A1-4608-BDC5-B5E55840F3CA}"/>
              </a:ext>
            </a:extLst>
          </p:cNvPr>
          <p:cNvSpPr>
            <a:spLocks noGrp="1"/>
          </p:cNvSpPr>
          <p:nvPr>
            <p:ph idx="1"/>
          </p:nvPr>
        </p:nvSpPr>
        <p:spPr>
          <a:xfrm>
            <a:off x="280220" y="975799"/>
            <a:ext cx="8583561" cy="4552440"/>
          </a:xfrm>
        </p:spPr>
        <p:txBody>
          <a:bodyPr>
            <a:normAutofit/>
          </a:bodyPr>
          <a:lstStyle/>
          <a:p>
            <a:pPr algn="just"/>
            <a:r>
              <a:rPr lang="en-US" sz="2400" dirty="0"/>
              <a:t>A computer system is a complex configuration composed of hardware, software, and additional equipment designed to work in synchrony to facilitate </a:t>
            </a:r>
            <a:r>
              <a:rPr lang="en-US" sz="2400" b="1" dirty="0"/>
              <a:t>data processing</a:t>
            </a:r>
            <a:r>
              <a:rPr lang="en-US" sz="2400" dirty="0"/>
              <a:t>. The system is characterized by an input component, a processing unit, and an output component.</a:t>
            </a:r>
          </a:p>
          <a:p>
            <a:pPr algn="just"/>
            <a:r>
              <a:rPr lang="en-US" sz="2400" dirty="0"/>
              <a:t>A computer system consists of hardware components that have been carefully chosen so that they work well together and software components or programs that run in the computer.</a:t>
            </a:r>
            <a:endParaRPr lang="en-UG" sz="2400" dirty="0"/>
          </a:p>
        </p:txBody>
      </p:sp>
      <p:pic>
        <p:nvPicPr>
          <p:cNvPr id="4" name="Content Placeholder 3">
            <a:extLst>
              <a:ext uri="{FF2B5EF4-FFF2-40B4-BE49-F238E27FC236}">
                <a16:creationId xmlns:a16="http://schemas.microsoft.com/office/drawing/2014/main" id="{DB9D5FC2-1763-47AF-9938-E15E9D7501A3}"/>
              </a:ext>
            </a:extLst>
          </p:cNvPr>
          <p:cNvPicPr>
            <a:picLocks noChangeAspect="1"/>
          </p:cNvPicPr>
          <p:nvPr/>
        </p:nvPicPr>
        <p:blipFill rotWithShape="1">
          <a:blip r:embed="rId2"/>
          <a:srcRect l="8371" t="10919" r="7737"/>
          <a:stretch/>
        </p:blipFill>
        <p:spPr>
          <a:xfrm>
            <a:off x="2255111" y="3790334"/>
            <a:ext cx="4633778" cy="3067666"/>
          </a:xfrm>
          <a:prstGeom prst="rect">
            <a:avLst/>
          </a:prstGeom>
        </p:spPr>
      </p:pic>
    </p:spTree>
    <p:extLst>
      <p:ext uri="{BB962C8B-B14F-4D97-AF65-F5344CB8AC3E}">
        <p14:creationId xmlns:p14="http://schemas.microsoft.com/office/powerpoint/2010/main" val="889950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BE57A-0BA0-4751-9EF7-6EC75950A671}"/>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Components of a computer system</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C29473A8-831A-437F-A76B-CA2AF971213B}"/>
              </a:ext>
            </a:extLst>
          </p:cNvPr>
          <p:cNvSpPr>
            <a:spLocks noGrp="1"/>
          </p:cNvSpPr>
          <p:nvPr>
            <p:ph idx="1"/>
          </p:nvPr>
        </p:nvSpPr>
        <p:spPr>
          <a:xfrm>
            <a:off x="339213" y="1209368"/>
            <a:ext cx="8176137" cy="4967595"/>
          </a:xfrm>
        </p:spPr>
        <p:txBody>
          <a:bodyPr>
            <a:normAutofit/>
          </a:bodyPr>
          <a:lstStyle/>
          <a:p>
            <a:pPr algn="just"/>
            <a:r>
              <a:rPr lang="en-US" dirty="0"/>
              <a:t>The components of a computer system are typically divided into hardware and software parts, which are both essential in making a computer system functional.</a:t>
            </a:r>
          </a:p>
          <a:p>
            <a:pPr algn="just"/>
            <a:r>
              <a:rPr lang="en-US" dirty="0"/>
              <a:t>         Functional Components of Computer.</a:t>
            </a:r>
          </a:p>
          <a:p>
            <a:pPr algn="just"/>
            <a:endParaRPr lang="en-UG" dirty="0"/>
          </a:p>
        </p:txBody>
      </p:sp>
      <p:pic>
        <p:nvPicPr>
          <p:cNvPr id="4" name="Content Placeholder 3">
            <a:extLst>
              <a:ext uri="{FF2B5EF4-FFF2-40B4-BE49-F238E27FC236}">
                <a16:creationId xmlns:a16="http://schemas.microsoft.com/office/drawing/2014/main" id="{C67C640D-7B13-416B-8AF2-07B355B1EC40}"/>
              </a:ext>
            </a:extLst>
          </p:cNvPr>
          <p:cNvPicPr>
            <a:picLocks noChangeAspect="1"/>
          </p:cNvPicPr>
          <p:nvPr/>
        </p:nvPicPr>
        <p:blipFill>
          <a:blip r:embed="rId2"/>
          <a:stretch>
            <a:fillRect/>
          </a:stretch>
        </p:blipFill>
        <p:spPr>
          <a:xfrm>
            <a:off x="1585864" y="3428999"/>
            <a:ext cx="5832987" cy="3237271"/>
          </a:xfrm>
          <a:prstGeom prst="rect">
            <a:avLst/>
          </a:prstGeom>
        </p:spPr>
      </p:pic>
    </p:spTree>
    <p:extLst>
      <p:ext uri="{BB962C8B-B14F-4D97-AF65-F5344CB8AC3E}">
        <p14:creationId xmlns:p14="http://schemas.microsoft.com/office/powerpoint/2010/main" val="50863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32B57-36DC-4C56-A24F-56C2BA5F8F4D}"/>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Hardware components</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7ED8713B-490C-49AB-BF72-6E1B017C1DD3}"/>
              </a:ext>
            </a:extLst>
          </p:cNvPr>
          <p:cNvSpPr>
            <a:spLocks noGrp="1"/>
          </p:cNvSpPr>
          <p:nvPr>
            <p:ph idx="1"/>
          </p:nvPr>
        </p:nvSpPr>
        <p:spPr>
          <a:xfrm>
            <a:off x="0" y="1460090"/>
            <a:ext cx="8515350" cy="4716873"/>
          </a:xfrm>
        </p:spPr>
        <p:txBody>
          <a:bodyPr>
            <a:normAutofit/>
          </a:bodyPr>
          <a:lstStyle/>
          <a:p>
            <a:pPr algn="just"/>
            <a:r>
              <a:rPr lang="en-US" dirty="0"/>
              <a:t>The hardware components include the computer itself; the physical parts inside the computer, such as a circuit board and storage devices; and any peripherals attached to the computer. These components can be either classified as input devices, such as a mouse or keyboard, or output devices, such as a monitor or a printer. While output devices reflect or display user data, input devices are designed to accept user data.</a:t>
            </a:r>
          </a:p>
          <a:p>
            <a:pPr algn="just"/>
            <a:endParaRPr lang="en-US" dirty="0"/>
          </a:p>
          <a:p>
            <a:pPr algn="just"/>
            <a:endParaRPr lang="en-UG" dirty="0"/>
          </a:p>
        </p:txBody>
      </p:sp>
    </p:spTree>
    <p:extLst>
      <p:ext uri="{BB962C8B-B14F-4D97-AF65-F5344CB8AC3E}">
        <p14:creationId xmlns:p14="http://schemas.microsoft.com/office/powerpoint/2010/main" val="3000374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85CAD-A38D-438F-8FA0-B22080837046}"/>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Input Unit</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1F0C9288-C302-423F-9CCE-0E332D6F12EC}"/>
              </a:ext>
            </a:extLst>
          </p:cNvPr>
          <p:cNvSpPr>
            <a:spLocks noGrp="1"/>
          </p:cNvSpPr>
          <p:nvPr>
            <p:ph idx="1"/>
          </p:nvPr>
        </p:nvSpPr>
        <p:spPr>
          <a:xfrm>
            <a:off x="103239" y="1430594"/>
            <a:ext cx="8412111" cy="5427405"/>
          </a:xfrm>
        </p:spPr>
        <p:txBody>
          <a:bodyPr>
            <a:normAutofit/>
          </a:bodyPr>
          <a:lstStyle/>
          <a:p>
            <a:pPr algn="just" fontAlgn="base"/>
            <a:r>
              <a:rPr lang="en-US" dirty="0"/>
              <a:t>These are devices used to capture data and instructions from users or external sources and convert user input into binary signals that the computer can process.</a:t>
            </a:r>
          </a:p>
          <a:p>
            <a:pPr algn="just" fontAlgn="base"/>
            <a:r>
              <a:rPr lang="en-US" b="1" dirty="0"/>
              <a:t>Common Devices (2025):</a:t>
            </a:r>
            <a:endParaRPr lang="en-US" dirty="0"/>
          </a:p>
          <a:p>
            <a:pPr lvl="1" algn="just" fontAlgn="base"/>
            <a:r>
              <a:rPr lang="en-US" dirty="0"/>
              <a:t>Keyboard, Mouse, Touchscreens</a:t>
            </a:r>
          </a:p>
          <a:p>
            <a:pPr lvl="1" algn="just" fontAlgn="base"/>
            <a:r>
              <a:rPr lang="en-US" dirty="0"/>
              <a:t>Scanners, Sensors, Stylus pens</a:t>
            </a:r>
          </a:p>
          <a:p>
            <a:pPr lvl="1" algn="just" fontAlgn="base"/>
            <a:r>
              <a:rPr lang="en-US" dirty="0"/>
              <a:t>Voice Assistants (e.g., Siri, Alexa)</a:t>
            </a:r>
          </a:p>
          <a:p>
            <a:pPr lvl="1" algn="just" fontAlgn="base"/>
            <a:r>
              <a:rPr lang="en-US" dirty="0"/>
              <a:t>Biometric devices (face/fingerprint recognition)</a:t>
            </a:r>
          </a:p>
          <a:p>
            <a:pPr lvl="1" algn="just" fontAlgn="base"/>
            <a:r>
              <a:rPr lang="en-US" dirty="0" err="1"/>
              <a:t>Iot</a:t>
            </a:r>
            <a:r>
              <a:rPr lang="en-US" dirty="0"/>
              <a:t>-based inputs from smart devices</a:t>
            </a:r>
          </a:p>
          <a:p>
            <a:pPr algn="just"/>
            <a:endParaRPr lang="en-UG" dirty="0"/>
          </a:p>
        </p:txBody>
      </p:sp>
    </p:spTree>
    <p:extLst>
      <p:ext uri="{BB962C8B-B14F-4D97-AF65-F5344CB8AC3E}">
        <p14:creationId xmlns:p14="http://schemas.microsoft.com/office/powerpoint/2010/main" val="1059714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E37EA-03B6-4C1B-BC63-016026513F03}"/>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Central Processing Unit (CPU) – The Brain of the Computer</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0E44B7B1-9C77-4A07-AA5B-39D63930BB1A}"/>
              </a:ext>
            </a:extLst>
          </p:cNvPr>
          <p:cNvSpPr>
            <a:spLocks noGrp="1"/>
          </p:cNvSpPr>
          <p:nvPr>
            <p:ph idx="1"/>
          </p:nvPr>
        </p:nvSpPr>
        <p:spPr/>
        <p:txBody>
          <a:bodyPr>
            <a:normAutofit/>
          </a:bodyPr>
          <a:lstStyle/>
          <a:p>
            <a:pPr fontAlgn="base"/>
            <a:r>
              <a:rPr lang="en-US" b="1" dirty="0"/>
              <a:t> </a:t>
            </a:r>
            <a:r>
              <a:rPr lang="en-US" dirty="0"/>
              <a:t>The </a:t>
            </a:r>
            <a:r>
              <a:rPr lang="en-US" b="1" dirty="0"/>
              <a:t>CPU</a:t>
            </a:r>
            <a:r>
              <a:rPr lang="en-US" dirty="0"/>
              <a:t> executes instructions and controls all internal operations. In 2025, CPUs will often have multiple </a:t>
            </a:r>
            <a:r>
              <a:rPr lang="en-US" b="1" dirty="0"/>
              <a:t>cores</a:t>
            </a:r>
            <a:r>
              <a:rPr lang="en-US" dirty="0"/>
              <a:t> and </a:t>
            </a:r>
            <a:r>
              <a:rPr lang="en-US" b="1" dirty="0"/>
              <a:t>threads</a:t>
            </a:r>
            <a:r>
              <a:rPr lang="en-US" dirty="0"/>
              <a:t> to handle parallel processing efficiently.</a:t>
            </a:r>
          </a:p>
          <a:p>
            <a:pPr fontAlgn="base"/>
            <a:r>
              <a:rPr lang="en-US" b="1" dirty="0"/>
              <a:t>Components of CPU:</a:t>
            </a:r>
          </a:p>
          <a:p>
            <a:endParaRPr lang="en-UG" dirty="0"/>
          </a:p>
        </p:txBody>
      </p:sp>
    </p:spTree>
    <p:extLst>
      <p:ext uri="{BB962C8B-B14F-4D97-AF65-F5344CB8AC3E}">
        <p14:creationId xmlns:p14="http://schemas.microsoft.com/office/powerpoint/2010/main" val="2482105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CC6F-BC62-45F6-AF3D-75CFB0F15CC6}"/>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Arithmetic Logic Unit (ALU)</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2153BE3E-D76E-4FDC-A53E-46F0EE064769}"/>
              </a:ext>
            </a:extLst>
          </p:cNvPr>
          <p:cNvSpPr>
            <a:spLocks noGrp="1"/>
          </p:cNvSpPr>
          <p:nvPr>
            <p:ph idx="1"/>
          </p:nvPr>
        </p:nvSpPr>
        <p:spPr/>
        <p:txBody>
          <a:bodyPr/>
          <a:lstStyle/>
          <a:p>
            <a:pPr fontAlgn="base"/>
            <a:r>
              <a:rPr lang="en-US" dirty="0"/>
              <a:t> </a:t>
            </a:r>
            <a:r>
              <a:rPr lang="en-US" b="1" dirty="0"/>
              <a:t>ALU is a digital circuit that provides arithmetic and logic operations</a:t>
            </a:r>
            <a:r>
              <a:rPr lang="en-US" dirty="0"/>
              <a:t>. </a:t>
            </a:r>
          </a:p>
          <a:p>
            <a:pPr fontAlgn="base"/>
            <a:r>
              <a:rPr lang="en-US" dirty="0"/>
              <a:t>Performs arithmetic operations (add, subtract, multiply, divide).</a:t>
            </a:r>
          </a:p>
          <a:p>
            <a:pPr fontAlgn="base"/>
            <a:r>
              <a:rPr lang="en-US" dirty="0"/>
              <a:t>Handles logical operations (comparison, decision-making).</a:t>
            </a:r>
          </a:p>
          <a:p>
            <a:pPr fontAlgn="base"/>
            <a:r>
              <a:rPr lang="en-US" dirty="0"/>
              <a:t>Supports AI/ML tasks using built-in vector/matrix operations (in modern CPUs).</a:t>
            </a:r>
          </a:p>
          <a:p>
            <a:endParaRPr lang="en-UG" dirty="0"/>
          </a:p>
        </p:txBody>
      </p:sp>
    </p:spTree>
    <p:extLst>
      <p:ext uri="{BB962C8B-B14F-4D97-AF65-F5344CB8AC3E}">
        <p14:creationId xmlns:p14="http://schemas.microsoft.com/office/powerpoint/2010/main" val="2757315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09B27-FACE-463C-B075-55CDDA0A8F75}"/>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b. Control Unit (CU)</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AAFBBCB2-A1EA-4D76-A7CE-7AE05840AEEF}"/>
              </a:ext>
            </a:extLst>
          </p:cNvPr>
          <p:cNvSpPr>
            <a:spLocks noGrp="1"/>
          </p:cNvSpPr>
          <p:nvPr>
            <p:ph idx="1"/>
          </p:nvPr>
        </p:nvSpPr>
        <p:spPr>
          <a:xfrm>
            <a:off x="0" y="1297858"/>
            <a:ext cx="8981768" cy="5442155"/>
          </a:xfrm>
        </p:spPr>
        <p:txBody>
          <a:bodyPr>
            <a:normAutofit/>
          </a:bodyPr>
          <a:lstStyle/>
          <a:p>
            <a:pPr marL="0" indent="0" algn="just" fontAlgn="base">
              <a:buNone/>
            </a:pPr>
            <a:r>
              <a:rPr lang="en-US" dirty="0"/>
              <a:t>The Control Unit (CU) is a vital component of the CPU, directing the processor's operations and coordinating instruction execution.</a:t>
            </a:r>
          </a:p>
          <a:p>
            <a:pPr marL="0" indent="0" algn="just" fontAlgn="base">
              <a:buNone/>
            </a:pPr>
            <a:r>
              <a:rPr lang="en-US" dirty="0"/>
              <a:t>The Control Unit (CU) is the part of the CPU that directs and coordinates all operations within the computer, fetching instructions from memory, decoding them, and generating control signals that tell the arithmetic logic unit (ALU), memory, and input/output devices what to do.</a:t>
            </a:r>
          </a:p>
          <a:p>
            <a:pPr marL="0" indent="0" algn="just" fontAlgn="base">
              <a:buNone/>
            </a:pPr>
            <a:r>
              <a:rPr lang="en-US" dirty="0"/>
              <a:t>Key-functions.</a:t>
            </a:r>
          </a:p>
          <a:p>
            <a:pPr algn="just" fontAlgn="base"/>
            <a:r>
              <a:rPr lang="en-US" dirty="0"/>
              <a:t>Directs the operations of all computer parts.</a:t>
            </a:r>
          </a:p>
          <a:p>
            <a:pPr algn="just" fontAlgn="base"/>
            <a:r>
              <a:rPr lang="en-US" dirty="0"/>
              <a:t>Decodes instructions and coordinates data flow.</a:t>
            </a:r>
          </a:p>
          <a:p>
            <a:pPr algn="just" fontAlgn="base"/>
            <a:r>
              <a:rPr lang="en-US" dirty="0"/>
              <a:t>Sends control signals to memory and I/O devices.</a:t>
            </a:r>
          </a:p>
          <a:p>
            <a:pPr algn="just"/>
            <a:endParaRPr lang="en-UG" dirty="0"/>
          </a:p>
        </p:txBody>
      </p:sp>
    </p:spTree>
    <p:extLst>
      <p:ext uri="{BB962C8B-B14F-4D97-AF65-F5344CB8AC3E}">
        <p14:creationId xmlns:p14="http://schemas.microsoft.com/office/powerpoint/2010/main" val="56730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C5AB6-1380-4D51-A332-C1AD3041E7D4}"/>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c. Registers</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81480B4A-EA4A-496D-8A3A-0D09C1E3EA08}"/>
              </a:ext>
            </a:extLst>
          </p:cNvPr>
          <p:cNvSpPr>
            <a:spLocks noGrp="1"/>
          </p:cNvSpPr>
          <p:nvPr>
            <p:ph idx="1"/>
          </p:nvPr>
        </p:nvSpPr>
        <p:spPr>
          <a:xfrm>
            <a:off x="167763" y="1486412"/>
            <a:ext cx="8725513" cy="4471935"/>
          </a:xfrm>
        </p:spPr>
        <p:txBody>
          <a:bodyPr>
            <a:normAutofit fontScale="92500" lnSpcReduction="20000"/>
          </a:bodyPr>
          <a:lstStyle/>
          <a:p>
            <a:pPr marL="0" indent="0" algn="just" fontAlgn="base">
              <a:buNone/>
            </a:pPr>
            <a:r>
              <a:rPr lang="en-US" b="1" dirty="0"/>
              <a:t>CPU registers are high-speed memory units</a:t>
            </a:r>
            <a:r>
              <a:rPr lang="en-US" dirty="0"/>
              <a:t> essential for efficient program execution, enabling quick access to frequently used values.</a:t>
            </a:r>
          </a:p>
          <a:p>
            <a:pPr marL="0" indent="0" algn="just" fontAlgn="base">
              <a:buNone/>
            </a:pPr>
            <a:r>
              <a:rPr lang="en-US" b="1" dirty="0"/>
              <a:t>A CPU register is a small and temporary storage</a:t>
            </a:r>
            <a:r>
              <a:rPr lang="en-US" dirty="0"/>
              <a:t> containing a set of data holding places that are part of the computer processor</a:t>
            </a:r>
          </a:p>
          <a:p>
            <a:pPr algn="just" fontAlgn="base"/>
            <a:r>
              <a:rPr lang="en-US" b="1" dirty="0"/>
              <a:t>High-speed memory locations</a:t>
            </a:r>
            <a:r>
              <a:rPr lang="en-US" dirty="0"/>
              <a:t> within the CPU.</a:t>
            </a:r>
          </a:p>
          <a:p>
            <a:pPr algn="just" fontAlgn="base"/>
            <a:r>
              <a:rPr lang="en-US" dirty="0"/>
              <a:t>Temporarily store instructions, addresses, and intermediate data.</a:t>
            </a:r>
          </a:p>
          <a:p>
            <a:pPr algn="just" fontAlgn="base"/>
            <a:r>
              <a:rPr lang="en-US" dirty="0"/>
              <a:t>Examples: Accumulator, Instruction Register, Program Counter, Address Register.</a:t>
            </a:r>
          </a:p>
          <a:p>
            <a:pPr algn="just" fontAlgn="base"/>
            <a:r>
              <a:rPr lang="en-US" b="1" dirty="0"/>
              <a:t>Modern CPUs</a:t>
            </a:r>
            <a:r>
              <a:rPr lang="en-US" dirty="0"/>
              <a:t> include 64-bit or even 128-bit registers for faster processing.</a:t>
            </a:r>
          </a:p>
          <a:p>
            <a:pPr algn="just"/>
            <a:endParaRPr lang="en-UG" dirty="0"/>
          </a:p>
        </p:txBody>
      </p:sp>
    </p:spTree>
    <p:extLst>
      <p:ext uri="{BB962C8B-B14F-4D97-AF65-F5344CB8AC3E}">
        <p14:creationId xmlns:p14="http://schemas.microsoft.com/office/powerpoint/2010/main" val="3596745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4FA74-3EA1-4781-97B1-E80F3E40A9C5}"/>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Memory / Storage Unit</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33C8A593-D63A-4AD6-ADF2-7C48616EE271}"/>
              </a:ext>
            </a:extLst>
          </p:cNvPr>
          <p:cNvSpPr>
            <a:spLocks noGrp="1"/>
          </p:cNvSpPr>
          <p:nvPr>
            <p:ph idx="1"/>
          </p:nvPr>
        </p:nvSpPr>
        <p:spPr>
          <a:xfrm>
            <a:off x="176981" y="1120876"/>
            <a:ext cx="8450825" cy="5737123"/>
          </a:xfrm>
        </p:spPr>
        <p:txBody>
          <a:bodyPr>
            <a:normAutofit fontScale="77500" lnSpcReduction="20000"/>
          </a:bodyPr>
          <a:lstStyle/>
          <a:p>
            <a:pPr algn="just" fontAlgn="base">
              <a:lnSpc>
                <a:spcPct val="120000"/>
              </a:lnSpc>
              <a:buFont typeface="Wingdings" panose="05000000000000000000" pitchFamily="2" charset="2"/>
              <a:buChar char="v"/>
            </a:pPr>
            <a:r>
              <a:rPr lang="en-US" dirty="0"/>
              <a:t>The Memory Unit (MU) is a critical component of a computer system, </a:t>
            </a:r>
            <a:r>
              <a:rPr lang="en-US" b="1" dirty="0"/>
              <a:t>responsible for storing data and instructions</a:t>
            </a:r>
            <a:r>
              <a:rPr lang="en-US" dirty="0"/>
              <a:t> required for processing.</a:t>
            </a:r>
          </a:p>
          <a:p>
            <a:pPr marL="0" indent="0" algn="just" fontAlgn="base">
              <a:lnSpc>
                <a:spcPct val="120000"/>
              </a:lnSpc>
              <a:buNone/>
            </a:pPr>
            <a:r>
              <a:rPr lang="en-US" dirty="0"/>
              <a:t>The </a:t>
            </a:r>
            <a:r>
              <a:rPr lang="en-US" b="1" dirty="0"/>
              <a:t>memory unit</a:t>
            </a:r>
            <a:r>
              <a:rPr lang="en-US" dirty="0"/>
              <a:t> holds data and instructions before, during, and after processing.</a:t>
            </a:r>
          </a:p>
          <a:p>
            <a:pPr algn="just" fontAlgn="base">
              <a:lnSpc>
                <a:spcPct val="120000"/>
              </a:lnSpc>
              <a:buFont typeface="Wingdings" panose="05000000000000000000" pitchFamily="2" charset="2"/>
              <a:buChar char="v"/>
            </a:pPr>
            <a:r>
              <a:rPr lang="en-US" b="1" dirty="0"/>
              <a:t> a. Primary Memory (Main Memory):</a:t>
            </a:r>
          </a:p>
          <a:p>
            <a:pPr algn="just" fontAlgn="base">
              <a:lnSpc>
                <a:spcPct val="120000"/>
              </a:lnSpc>
              <a:buFont typeface="Wingdings" panose="05000000000000000000" pitchFamily="2" charset="2"/>
              <a:buChar char="v"/>
            </a:pPr>
            <a:r>
              <a:rPr lang="en-US" dirty="0"/>
              <a:t>Primary storage, </a:t>
            </a:r>
            <a:r>
              <a:rPr lang="en-US" b="1" dirty="0"/>
              <a:t>located on the</a:t>
            </a:r>
            <a:r>
              <a:rPr lang="en-US" dirty="0"/>
              <a:t> system board, is the computer component that stores the programs, data and instructions that are in active use by that computer.</a:t>
            </a:r>
          </a:p>
          <a:p>
            <a:pPr algn="just" fontAlgn="base">
              <a:lnSpc>
                <a:spcPct val="120000"/>
              </a:lnSpc>
              <a:buFont typeface="Wingdings" panose="05000000000000000000" pitchFamily="2" charset="2"/>
              <a:buChar char="v"/>
            </a:pPr>
            <a:r>
              <a:rPr lang="en-US" dirty="0"/>
              <a:t>RAM (Random Access Memory): Temporarily stores data during execution.</a:t>
            </a:r>
          </a:p>
          <a:p>
            <a:pPr marL="0" indent="0" algn="just" fontAlgn="base">
              <a:lnSpc>
                <a:spcPct val="120000"/>
              </a:lnSpc>
              <a:buNone/>
            </a:pPr>
            <a:r>
              <a:rPr lang="en-US" b="1" dirty="0"/>
              <a:t>ROM (Read-Only Memory):</a:t>
            </a:r>
            <a:r>
              <a:rPr lang="en-US" dirty="0"/>
              <a:t> Stores boot-up instructions and firmware.</a:t>
            </a:r>
          </a:p>
          <a:p>
            <a:pPr marL="0" indent="0" algn="just" fontAlgn="base">
              <a:lnSpc>
                <a:spcPct val="120000"/>
              </a:lnSpc>
              <a:buNone/>
            </a:pPr>
            <a:r>
              <a:rPr lang="en-US" b="1" dirty="0"/>
              <a:t>Cache Memory:</a:t>
            </a:r>
            <a:r>
              <a:rPr lang="en-US" dirty="0"/>
              <a:t> Ultra-fast memory between CPU and RAM (L1, L2, L3 levels).</a:t>
            </a:r>
            <a:endParaRPr lang="en-UG" dirty="0"/>
          </a:p>
        </p:txBody>
      </p:sp>
    </p:spTree>
    <p:extLst>
      <p:ext uri="{BB962C8B-B14F-4D97-AF65-F5344CB8AC3E}">
        <p14:creationId xmlns:p14="http://schemas.microsoft.com/office/powerpoint/2010/main" val="183356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B0540-E1D0-4936-9B69-18522018BABB}"/>
              </a:ext>
            </a:extLst>
          </p:cNvPr>
          <p:cNvSpPr>
            <a:spLocks noGrp="1"/>
          </p:cNvSpPr>
          <p:nvPr>
            <p:ph type="title"/>
          </p:nvPr>
        </p:nvSpPr>
        <p:spPr/>
        <p:txBody>
          <a:bodyPr/>
          <a:lstStyle/>
          <a:p>
            <a:r>
              <a:rPr lang="en-US" b="1" dirty="0"/>
              <a:t>b. Secondary Storage:</a:t>
            </a:r>
            <a:br>
              <a:rPr lang="en-US" b="1" dirty="0"/>
            </a:br>
            <a:endParaRPr lang="en-UG" dirty="0"/>
          </a:p>
        </p:txBody>
      </p:sp>
      <p:sp>
        <p:nvSpPr>
          <p:cNvPr id="3" name="Content Placeholder 2">
            <a:extLst>
              <a:ext uri="{FF2B5EF4-FFF2-40B4-BE49-F238E27FC236}">
                <a16:creationId xmlns:a16="http://schemas.microsoft.com/office/drawing/2014/main" id="{BC1A8189-F303-4168-A8C2-3148F9F3841C}"/>
              </a:ext>
            </a:extLst>
          </p:cNvPr>
          <p:cNvSpPr>
            <a:spLocks noGrp="1"/>
          </p:cNvSpPr>
          <p:nvPr>
            <p:ph idx="1"/>
          </p:nvPr>
        </p:nvSpPr>
        <p:spPr/>
        <p:txBody>
          <a:bodyPr>
            <a:normAutofit fontScale="92500"/>
          </a:bodyPr>
          <a:lstStyle/>
          <a:p>
            <a:pPr marL="0" indent="0" algn="just" fontAlgn="base">
              <a:lnSpc>
                <a:spcPct val="120000"/>
              </a:lnSpc>
              <a:buNone/>
            </a:pPr>
            <a:r>
              <a:rPr lang="en-US" dirty="0"/>
              <a:t>Secondary storage is non-volatile memory used for the long-term, persistent storage of programs and files, retaining data even when the computer is powered off</a:t>
            </a:r>
            <a:endParaRPr lang="en-US" b="1" dirty="0"/>
          </a:p>
          <a:p>
            <a:pPr marL="0" indent="0" algn="just" fontAlgn="base">
              <a:lnSpc>
                <a:spcPct val="120000"/>
              </a:lnSpc>
              <a:buNone/>
            </a:pPr>
            <a:r>
              <a:rPr lang="en-US" dirty="0"/>
              <a:t>Used for long-term data storage.</a:t>
            </a:r>
          </a:p>
          <a:p>
            <a:pPr marL="0" indent="0" algn="just" fontAlgn="base">
              <a:lnSpc>
                <a:spcPct val="120000"/>
              </a:lnSpc>
              <a:buNone/>
            </a:pPr>
            <a:r>
              <a:rPr lang="en-US" b="1" dirty="0"/>
              <a:t>Examples</a:t>
            </a:r>
            <a:r>
              <a:rPr lang="en-US" dirty="0"/>
              <a:t>: SSDs (</a:t>
            </a:r>
            <a:r>
              <a:rPr lang="en-US" dirty="0" err="1"/>
              <a:t>NVMe</a:t>
            </a:r>
            <a:r>
              <a:rPr lang="en-US" dirty="0"/>
              <a:t> drives), HDDs, flash drives, and cloud storage.</a:t>
            </a:r>
          </a:p>
          <a:p>
            <a:pPr marL="0" indent="0" algn="just" fontAlgn="base">
              <a:lnSpc>
                <a:spcPct val="120000"/>
              </a:lnSpc>
              <a:buNone/>
            </a:pPr>
            <a:r>
              <a:rPr lang="en-US" b="1" dirty="0"/>
              <a:t>Modern Trend:</a:t>
            </a:r>
            <a:r>
              <a:rPr lang="en-US" dirty="0"/>
              <a:t> Use of </a:t>
            </a:r>
            <a:r>
              <a:rPr lang="en-US" b="1" dirty="0"/>
              <a:t>Cloud Integration</a:t>
            </a:r>
            <a:r>
              <a:rPr lang="en-US" dirty="0"/>
              <a:t> and </a:t>
            </a:r>
            <a:r>
              <a:rPr lang="en-US" b="1" dirty="0"/>
              <a:t>hybrid storage models</a:t>
            </a:r>
            <a:r>
              <a:rPr lang="en-US" dirty="0"/>
              <a:t>.</a:t>
            </a:r>
          </a:p>
          <a:p>
            <a:endParaRPr lang="en-UG" dirty="0"/>
          </a:p>
        </p:txBody>
      </p:sp>
    </p:spTree>
    <p:extLst>
      <p:ext uri="{BB962C8B-B14F-4D97-AF65-F5344CB8AC3E}">
        <p14:creationId xmlns:p14="http://schemas.microsoft.com/office/powerpoint/2010/main" val="475812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FD471-8464-46E5-A654-71B39FC9CFAB}"/>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4. Output Unit</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494AA797-C3D3-4662-B305-3D991B157D49}"/>
              </a:ext>
            </a:extLst>
          </p:cNvPr>
          <p:cNvSpPr>
            <a:spLocks noGrp="1"/>
          </p:cNvSpPr>
          <p:nvPr>
            <p:ph idx="1"/>
          </p:nvPr>
        </p:nvSpPr>
        <p:spPr>
          <a:xfrm>
            <a:off x="442452" y="1489587"/>
            <a:ext cx="8072898" cy="4687376"/>
          </a:xfrm>
        </p:spPr>
        <p:txBody>
          <a:bodyPr/>
          <a:lstStyle/>
          <a:p>
            <a:pPr fontAlgn="base"/>
            <a:r>
              <a:rPr lang="en-US" dirty="0"/>
              <a:t>Converts processed data (binary) into a form users can understand.</a:t>
            </a:r>
          </a:p>
          <a:p>
            <a:pPr fontAlgn="base"/>
            <a:r>
              <a:rPr lang="en-US" b="1" dirty="0"/>
              <a:t>Examples:</a:t>
            </a:r>
            <a:endParaRPr lang="en-US" dirty="0"/>
          </a:p>
          <a:p>
            <a:pPr lvl="1" fontAlgn="base"/>
            <a:r>
              <a:rPr lang="en-US" dirty="0"/>
              <a:t>Visual: Monitors (LED, OLED, 4K/8K displays)</a:t>
            </a:r>
          </a:p>
          <a:p>
            <a:pPr lvl="1" fontAlgn="base"/>
            <a:r>
              <a:rPr lang="en-US" dirty="0"/>
              <a:t>Print: Printers (Inkjet, Laser, 3D Printers)</a:t>
            </a:r>
          </a:p>
          <a:p>
            <a:pPr lvl="1" fontAlgn="base"/>
            <a:r>
              <a:rPr lang="en-US" dirty="0"/>
              <a:t>Audio: Speakers, Headphones</a:t>
            </a:r>
          </a:p>
          <a:p>
            <a:pPr lvl="1" fontAlgn="base"/>
            <a:r>
              <a:rPr lang="en-US" dirty="0"/>
              <a:t>Haptic: Vibration feedback devices</a:t>
            </a:r>
          </a:p>
          <a:p>
            <a:pPr fontAlgn="base"/>
            <a:r>
              <a:rPr lang="en-US" b="1" dirty="0"/>
              <a:t>Emerging Tech:</a:t>
            </a:r>
            <a:r>
              <a:rPr lang="en-US" dirty="0"/>
              <a:t> AR/VR headsets, voice-based output, Braille displays for accessibility</a:t>
            </a:r>
          </a:p>
          <a:p>
            <a:endParaRPr lang="en-UG" dirty="0"/>
          </a:p>
        </p:txBody>
      </p:sp>
    </p:spTree>
    <p:extLst>
      <p:ext uri="{BB962C8B-B14F-4D97-AF65-F5344CB8AC3E}">
        <p14:creationId xmlns:p14="http://schemas.microsoft.com/office/powerpoint/2010/main" val="952230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8720C-AD50-4711-B1CA-C173AF30E506}"/>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System Unit</a:t>
            </a: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9DD84BC7-69A5-4568-8CD8-0659757BB936}"/>
              </a:ext>
            </a:extLst>
          </p:cNvPr>
          <p:cNvSpPr>
            <a:spLocks noGrp="1"/>
          </p:cNvSpPr>
          <p:nvPr>
            <p:ph idx="1"/>
          </p:nvPr>
        </p:nvSpPr>
        <p:spPr>
          <a:xfrm>
            <a:off x="-162233" y="1442167"/>
            <a:ext cx="8677583" cy="4351338"/>
          </a:xfrm>
        </p:spPr>
        <p:txBody>
          <a:bodyPr>
            <a:normAutofit/>
          </a:bodyPr>
          <a:lstStyle/>
          <a:p>
            <a:pPr algn="just"/>
            <a:r>
              <a:rPr lang="en-US" sz="2400" dirty="0"/>
              <a:t>The </a:t>
            </a:r>
            <a:r>
              <a:rPr lang="en-US" sz="2400" b="1" dirty="0"/>
              <a:t>system unit</a:t>
            </a:r>
            <a:r>
              <a:rPr lang="en-US" sz="2400" dirty="0"/>
              <a:t> is a box-like case that holds the computer’s </a:t>
            </a:r>
            <a:r>
              <a:rPr lang="en-US" sz="2400" b="1" dirty="0"/>
              <a:t>internal hardware</a:t>
            </a:r>
            <a:r>
              <a:rPr lang="en-US" sz="2400" dirty="0"/>
              <a:t>. It ensures all the components are securely connected and protected from external elements. These internal components include critical parts like the motherboard, </a:t>
            </a:r>
            <a:r>
              <a:rPr lang="en-US" sz="2400" u="sng" dirty="0"/>
              <a:t>CPU</a:t>
            </a:r>
            <a:r>
              <a:rPr lang="en-US" sz="2400" dirty="0"/>
              <a:t>, memory, and storage devices, that facilitate the computer to carry out different activities efficiently.</a:t>
            </a:r>
            <a:endParaRPr lang="en-UG" sz="2400" dirty="0"/>
          </a:p>
        </p:txBody>
      </p:sp>
      <p:pic>
        <p:nvPicPr>
          <p:cNvPr id="4" name="Picture 3">
            <a:extLst>
              <a:ext uri="{FF2B5EF4-FFF2-40B4-BE49-F238E27FC236}">
                <a16:creationId xmlns:a16="http://schemas.microsoft.com/office/drawing/2014/main" id="{F1BF75F5-3E24-49AE-B7B9-BF2B51042483}"/>
              </a:ext>
            </a:extLst>
          </p:cNvPr>
          <p:cNvPicPr>
            <a:picLocks noChangeAspect="1"/>
          </p:cNvPicPr>
          <p:nvPr/>
        </p:nvPicPr>
        <p:blipFill>
          <a:blip r:embed="rId2"/>
          <a:stretch>
            <a:fillRect/>
          </a:stretch>
        </p:blipFill>
        <p:spPr>
          <a:xfrm>
            <a:off x="117987" y="3630382"/>
            <a:ext cx="5801647" cy="3240164"/>
          </a:xfrm>
          <a:prstGeom prst="rect">
            <a:avLst/>
          </a:prstGeom>
        </p:spPr>
      </p:pic>
    </p:spTree>
    <p:extLst>
      <p:ext uri="{BB962C8B-B14F-4D97-AF65-F5344CB8AC3E}">
        <p14:creationId xmlns:p14="http://schemas.microsoft.com/office/powerpoint/2010/main" val="1047975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816AA-7BF1-4BDD-B7DE-4EA2F7B41F9F}"/>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br>
              <a:rPr lang="en-UG" sz="3600" dirty="0">
                <a:solidFill>
                  <a:srgbClr val="0070C0"/>
                </a:solidFill>
                <a:latin typeface="Baskerville Old Face" pitchFamily="18" charset="0"/>
              </a:rPr>
            </a:br>
            <a:r>
              <a:rPr lang="en-US" sz="3600" dirty="0">
                <a:solidFill>
                  <a:srgbClr val="0070C0"/>
                </a:solidFill>
                <a:latin typeface="Baskerville Old Face" pitchFamily="18" charset="0"/>
              </a:rPr>
              <a:t>What makes up the system unit </a:t>
            </a:r>
            <a:br>
              <a:rPr lang="en-US" sz="3600" dirty="0">
                <a:solidFill>
                  <a:srgbClr val="0070C0"/>
                </a:solidFill>
                <a:latin typeface="Baskerville Old Face" pitchFamily="18" charset="0"/>
              </a:rPr>
            </a:br>
            <a:r>
              <a:rPr lang="en-UG" sz="3600" dirty="0">
                <a:solidFill>
                  <a:srgbClr val="0070C0"/>
                </a:solidFill>
                <a:latin typeface="Baskerville Old Face" pitchFamily="18" charset="0"/>
              </a:rPr>
              <a:t>	</a:t>
            </a:r>
            <a:br>
              <a:rPr lang="en-UG"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1E6D3038-460C-4546-B17F-3BE2085A3205}"/>
              </a:ext>
            </a:extLst>
          </p:cNvPr>
          <p:cNvSpPr>
            <a:spLocks noGrp="1"/>
          </p:cNvSpPr>
          <p:nvPr>
            <p:ph idx="1"/>
          </p:nvPr>
        </p:nvSpPr>
        <p:spPr>
          <a:xfrm>
            <a:off x="265471" y="1224116"/>
            <a:ext cx="8249879" cy="4952847"/>
          </a:xfrm>
        </p:spPr>
        <p:txBody>
          <a:bodyPr>
            <a:normAutofit/>
          </a:bodyPr>
          <a:lstStyle/>
          <a:p>
            <a:pPr algn="just"/>
            <a:r>
              <a:rPr lang="en-US" sz="2400" dirty="0"/>
              <a:t>A system unit, in the context of computing, refers to the main part of a personal computer. It's typically a rectangular box that contains important parts like the motherboard, central processing unit (CPU), random access memory (RAM), and storage drives. </a:t>
            </a:r>
          </a:p>
          <a:p>
            <a:pPr algn="just"/>
            <a:r>
              <a:rPr lang="en-US" sz="2400" dirty="0"/>
              <a:t>The types of system units include towers (tall boxes), desktops (short boxes), and "pizza boxes" (very short boxes). Other types are also sold, or can be custom made. Each system unit type can contain a different number of cards</a:t>
            </a:r>
            <a:endParaRPr lang="en-UG" sz="2400" dirty="0"/>
          </a:p>
        </p:txBody>
      </p:sp>
      <p:pic>
        <p:nvPicPr>
          <p:cNvPr id="4" name="Picture 3">
            <a:extLst>
              <a:ext uri="{FF2B5EF4-FFF2-40B4-BE49-F238E27FC236}">
                <a16:creationId xmlns:a16="http://schemas.microsoft.com/office/drawing/2014/main" id="{04D1D03C-3FD1-49B0-B2E1-FE625255B6D2}"/>
              </a:ext>
            </a:extLst>
          </p:cNvPr>
          <p:cNvPicPr>
            <a:picLocks noChangeAspect="1"/>
          </p:cNvPicPr>
          <p:nvPr/>
        </p:nvPicPr>
        <p:blipFill>
          <a:blip r:embed="rId2"/>
          <a:stretch>
            <a:fillRect/>
          </a:stretch>
        </p:blipFill>
        <p:spPr>
          <a:xfrm>
            <a:off x="2846439" y="4636873"/>
            <a:ext cx="4262284" cy="1986992"/>
          </a:xfrm>
          <a:prstGeom prst="rect">
            <a:avLst/>
          </a:prstGeom>
        </p:spPr>
      </p:pic>
    </p:spTree>
    <p:extLst>
      <p:ext uri="{BB962C8B-B14F-4D97-AF65-F5344CB8AC3E}">
        <p14:creationId xmlns:p14="http://schemas.microsoft.com/office/powerpoint/2010/main" val="2214578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E9899-92D7-477D-B5E0-BC5E67D88CCE}"/>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Key Functions of the System Unit</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8BCF9043-650D-42F8-90EB-8F8521F15A6E}"/>
              </a:ext>
            </a:extLst>
          </p:cNvPr>
          <p:cNvSpPr>
            <a:spLocks noGrp="1"/>
          </p:cNvSpPr>
          <p:nvPr>
            <p:ph idx="1"/>
          </p:nvPr>
        </p:nvSpPr>
        <p:spPr/>
        <p:txBody>
          <a:bodyPr>
            <a:normAutofit fontScale="92500" lnSpcReduction="10000"/>
          </a:bodyPr>
          <a:lstStyle/>
          <a:p>
            <a:pPr algn="just" fontAlgn="base"/>
            <a:r>
              <a:rPr lang="en-US" b="1" dirty="0"/>
              <a:t>Protection and Housing</a:t>
            </a:r>
            <a:r>
              <a:rPr lang="en-US" dirty="0"/>
              <a:t>:</a:t>
            </a:r>
          </a:p>
          <a:p>
            <a:pPr lvl="1" algn="just" fontAlgn="base"/>
            <a:r>
              <a:rPr lang="en-US" dirty="0"/>
              <a:t>The system unit protects sensitive electronic components from dust, moisture, and physical damage.</a:t>
            </a:r>
          </a:p>
          <a:p>
            <a:pPr lvl="1" algn="just" fontAlgn="base"/>
            <a:r>
              <a:rPr lang="en-US" dirty="0"/>
              <a:t>It organizes all parts compactly and functionally.</a:t>
            </a:r>
          </a:p>
          <a:p>
            <a:pPr algn="just" fontAlgn="base"/>
            <a:r>
              <a:rPr lang="en-US" b="1" dirty="0"/>
              <a:t>Upgrade Support</a:t>
            </a:r>
            <a:r>
              <a:rPr lang="en-US" dirty="0"/>
              <a:t>:</a:t>
            </a:r>
          </a:p>
          <a:p>
            <a:pPr lvl="1" algn="just" fontAlgn="base"/>
            <a:r>
              <a:rPr lang="en-US" dirty="0"/>
              <a:t>Most modern system units are designed to support upgrades, such as adding more RAM, installing a new graphics card, or increasing storage capacity.</a:t>
            </a:r>
          </a:p>
          <a:p>
            <a:pPr algn="just" fontAlgn="base"/>
            <a:r>
              <a:rPr lang="en-US" b="1" dirty="0"/>
              <a:t>Connectivity</a:t>
            </a:r>
            <a:r>
              <a:rPr lang="en-US" dirty="0"/>
              <a:t>:</a:t>
            </a:r>
          </a:p>
          <a:p>
            <a:pPr lvl="1" algn="just" fontAlgn="base"/>
            <a:r>
              <a:rPr lang="en-US" dirty="0"/>
              <a:t>The front of the system unit typically features </a:t>
            </a:r>
            <a:r>
              <a:rPr lang="en-US" b="1" dirty="0"/>
              <a:t>USB ports</a:t>
            </a:r>
            <a:r>
              <a:rPr lang="en-US" dirty="0"/>
              <a:t>, </a:t>
            </a:r>
            <a:r>
              <a:rPr lang="en-US" b="1" dirty="0"/>
              <a:t>audio jacks</a:t>
            </a:r>
            <a:r>
              <a:rPr lang="en-US" dirty="0"/>
              <a:t>, and an </a:t>
            </a:r>
            <a:r>
              <a:rPr lang="en-US" b="1" dirty="0"/>
              <a:t>optical disk drive</a:t>
            </a:r>
            <a:r>
              <a:rPr lang="en-US" dirty="0"/>
              <a:t> for easy access.</a:t>
            </a:r>
          </a:p>
          <a:p>
            <a:pPr lvl="1" algn="just" fontAlgn="base"/>
            <a:r>
              <a:rPr lang="en-US" dirty="0"/>
              <a:t>The back contains ports for essential peripherals like the monitor, keyboard, mouse, and internet connection.</a:t>
            </a:r>
          </a:p>
          <a:p>
            <a:pPr algn="just"/>
            <a:endParaRPr lang="en-UG" dirty="0"/>
          </a:p>
        </p:txBody>
      </p:sp>
    </p:spTree>
    <p:extLst>
      <p:ext uri="{BB962C8B-B14F-4D97-AF65-F5344CB8AC3E}">
        <p14:creationId xmlns:p14="http://schemas.microsoft.com/office/powerpoint/2010/main" val="2412490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C18B9-16E0-4A67-A26B-39D15FC0B144}"/>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Major Components of the System Unit</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D1B3009D-DD3D-499B-8643-5FF64E967297}"/>
              </a:ext>
            </a:extLst>
          </p:cNvPr>
          <p:cNvSpPr>
            <a:spLocks noGrp="1"/>
          </p:cNvSpPr>
          <p:nvPr>
            <p:ph idx="1"/>
          </p:nvPr>
        </p:nvSpPr>
        <p:spPr>
          <a:xfrm>
            <a:off x="0" y="1135626"/>
            <a:ext cx="8908026" cy="5041337"/>
          </a:xfrm>
        </p:spPr>
        <p:txBody>
          <a:bodyPr>
            <a:normAutofit/>
          </a:bodyPr>
          <a:lstStyle/>
          <a:p>
            <a:pPr algn="just" fontAlgn="base">
              <a:buFont typeface="Wingdings" panose="05000000000000000000" pitchFamily="2" charset="2"/>
              <a:buChar char="v"/>
            </a:pPr>
            <a:r>
              <a:rPr lang="en-US" b="1" dirty="0"/>
              <a:t> The Computer Motherboard.</a:t>
            </a:r>
          </a:p>
          <a:p>
            <a:pPr marL="0" indent="0" algn="just" fontAlgn="base">
              <a:buNone/>
            </a:pPr>
            <a:r>
              <a:rPr lang="en-US" dirty="0"/>
              <a:t>The </a:t>
            </a:r>
            <a:r>
              <a:rPr lang="en-US" b="1" dirty="0"/>
              <a:t>motherboard</a:t>
            </a:r>
            <a:r>
              <a:rPr lang="en-US" dirty="0"/>
              <a:t> is the backbone of the computer, often called the </a:t>
            </a:r>
            <a:r>
              <a:rPr lang="en-US" b="1" dirty="0"/>
              <a:t>system board</a:t>
            </a:r>
            <a:r>
              <a:rPr lang="en-US" dirty="0"/>
              <a:t> or </a:t>
            </a:r>
            <a:r>
              <a:rPr lang="en-US" b="1" dirty="0"/>
              <a:t>mainboard</a:t>
            </a:r>
            <a:r>
              <a:rPr lang="en-US" dirty="0"/>
              <a:t>. It is a large printed circuit board that connects and supports various components, including: CPU, Memory, Expansion slots, BIOS, and peripheral controllers</a:t>
            </a:r>
          </a:p>
          <a:p>
            <a:pPr algn="just">
              <a:buFont typeface="Wingdings" panose="05000000000000000000" pitchFamily="2" charset="2"/>
              <a:buChar char="v"/>
            </a:pPr>
            <a:endParaRPr lang="en-UG" dirty="0"/>
          </a:p>
        </p:txBody>
      </p:sp>
      <p:pic>
        <p:nvPicPr>
          <p:cNvPr id="4" name="Content Placeholder 3">
            <a:extLst>
              <a:ext uri="{FF2B5EF4-FFF2-40B4-BE49-F238E27FC236}">
                <a16:creationId xmlns:a16="http://schemas.microsoft.com/office/drawing/2014/main" id="{66484290-06E1-4396-962F-81546CA47251}"/>
              </a:ext>
            </a:extLst>
          </p:cNvPr>
          <p:cNvPicPr>
            <a:picLocks noChangeAspect="1"/>
          </p:cNvPicPr>
          <p:nvPr/>
        </p:nvPicPr>
        <p:blipFill rotWithShape="1">
          <a:blip r:embed="rId2"/>
          <a:srcRect l="1922" t="4553" b="2619"/>
          <a:stretch/>
        </p:blipFill>
        <p:spPr>
          <a:xfrm>
            <a:off x="1799303" y="3687097"/>
            <a:ext cx="4882257" cy="3170903"/>
          </a:xfrm>
          <a:prstGeom prst="rect">
            <a:avLst/>
          </a:prstGeom>
        </p:spPr>
      </p:pic>
    </p:spTree>
    <p:extLst>
      <p:ext uri="{BB962C8B-B14F-4D97-AF65-F5344CB8AC3E}">
        <p14:creationId xmlns:p14="http://schemas.microsoft.com/office/powerpoint/2010/main" val="2990385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3ECCF-C137-42B1-A089-1833F1D7989A}"/>
              </a:ext>
            </a:extLst>
          </p:cNvPr>
          <p:cNvSpPr>
            <a:spLocks noGrp="1"/>
          </p:cNvSpPr>
          <p:nvPr>
            <p:ph idx="1"/>
          </p:nvPr>
        </p:nvSpPr>
        <p:spPr>
          <a:xfrm>
            <a:off x="0" y="1122183"/>
            <a:ext cx="7197213" cy="5262563"/>
          </a:xfrm>
        </p:spPr>
        <p:txBody>
          <a:bodyPr>
            <a:normAutofit/>
          </a:bodyPr>
          <a:lstStyle/>
          <a:p>
            <a:pPr algn="just" fontAlgn="base">
              <a:buFont typeface="Wingdings" panose="05000000000000000000" pitchFamily="2" charset="2"/>
              <a:buChar char="v"/>
            </a:pPr>
            <a:r>
              <a:rPr lang="en-US" sz="2400" b="1" dirty="0"/>
              <a:t>CPU (Central Processing Unit)</a:t>
            </a:r>
            <a:r>
              <a:rPr lang="en-US" sz="2400" dirty="0"/>
              <a:t>: The ‘</a:t>
            </a:r>
            <a:r>
              <a:rPr lang="en-US" sz="2400" i="1" dirty="0"/>
              <a:t>brain of the computer</a:t>
            </a:r>
            <a:r>
              <a:rPr lang="en-US" sz="2400" dirty="0"/>
              <a:t>‘, responsible for executing instructions.</a:t>
            </a:r>
          </a:p>
          <a:p>
            <a:pPr algn="just" fontAlgn="base">
              <a:buFont typeface="Wingdings" panose="05000000000000000000" pitchFamily="2" charset="2"/>
              <a:buChar char="v"/>
            </a:pPr>
            <a:r>
              <a:rPr lang="en-US" sz="2400" b="1" dirty="0"/>
              <a:t>BIOS (Basic </a:t>
            </a:r>
            <a:r>
              <a:rPr lang="en-US" sz="2400" b="1" dirty="0" err="1"/>
              <a:t>Input/Output</a:t>
            </a:r>
            <a:r>
              <a:rPr lang="en-US" sz="2400" b="1" dirty="0"/>
              <a:t> System)</a:t>
            </a:r>
            <a:r>
              <a:rPr lang="en-US" sz="2400" dirty="0"/>
              <a:t>: The firmware that initializes hardware during boot-up.</a:t>
            </a:r>
          </a:p>
          <a:p>
            <a:pPr algn="just" fontAlgn="base">
              <a:buFont typeface="Wingdings" panose="05000000000000000000" pitchFamily="2" charset="2"/>
              <a:buChar char="v"/>
            </a:pPr>
            <a:r>
              <a:rPr lang="en-US" sz="2400" b="1" dirty="0"/>
              <a:t>Memory (RAM)</a:t>
            </a:r>
            <a:r>
              <a:rPr lang="en-US" sz="2400" dirty="0"/>
              <a:t>: Temporary storage for data and instructions currently in use.</a:t>
            </a:r>
          </a:p>
          <a:p>
            <a:pPr algn="just" fontAlgn="base">
              <a:buFont typeface="Wingdings" panose="05000000000000000000" pitchFamily="2" charset="2"/>
              <a:buChar char="v"/>
            </a:pPr>
            <a:endParaRPr lang="en-US" sz="2400" dirty="0"/>
          </a:p>
          <a:p>
            <a:pPr algn="just" fontAlgn="base">
              <a:buFont typeface="Wingdings" panose="05000000000000000000" pitchFamily="2" charset="2"/>
              <a:buChar char="v"/>
            </a:pPr>
            <a:r>
              <a:rPr lang="en-US" sz="2400" b="1" dirty="0"/>
              <a:t>Expansion Slots</a:t>
            </a:r>
            <a:r>
              <a:rPr lang="en-US" sz="2400" dirty="0"/>
              <a:t>: For adding extra cards like graphics or sound cards.</a:t>
            </a:r>
          </a:p>
          <a:p>
            <a:pPr algn="just" fontAlgn="base">
              <a:buFont typeface="Wingdings" panose="05000000000000000000" pitchFamily="2" charset="2"/>
              <a:buChar char="v"/>
            </a:pPr>
            <a:endParaRPr lang="en-US" sz="2400" dirty="0"/>
          </a:p>
          <a:p>
            <a:pPr algn="just" fontAlgn="base">
              <a:buFont typeface="Wingdings" panose="05000000000000000000" pitchFamily="2" charset="2"/>
              <a:buChar char="v"/>
            </a:pPr>
            <a:r>
              <a:rPr lang="en-US" sz="2400" b="1" dirty="0"/>
              <a:t>Peripheral Controllers</a:t>
            </a:r>
            <a:r>
              <a:rPr lang="en-US" sz="2400" dirty="0"/>
              <a:t>: Manage devices like the keyboard, display screen and storage drives.</a:t>
            </a:r>
          </a:p>
          <a:p>
            <a:endParaRPr lang="en-UG" sz="2400" dirty="0"/>
          </a:p>
        </p:txBody>
      </p:sp>
      <p:pic>
        <p:nvPicPr>
          <p:cNvPr id="4" name="Picture 3">
            <a:extLst>
              <a:ext uri="{FF2B5EF4-FFF2-40B4-BE49-F238E27FC236}">
                <a16:creationId xmlns:a16="http://schemas.microsoft.com/office/drawing/2014/main" id="{1DBE3399-0B6E-4CE2-9870-438C2ACA6104}"/>
              </a:ext>
            </a:extLst>
          </p:cNvPr>
          <p:cNvPicPr>
            <a:picLocks noChangeAspect="1"/>
          </p:cNvPicPr>
          <p:nvPr/>
        </p:nvPicPr>
        <p:blipFill>
          <a:blip r:embed="rId2"/>
          <a:stretch>
            <a:fillRect/>
          </a:stretch>
        </p:blipFill>
        <p:spPr>
          <a:xfrm>
            <a:off x="7197213" y="695879"/>
            <a:ext cx="1946787" cy="852607"/>
          </a:xfrm>
          <a:prstGeom prst="rect">
            <a:avLst/>
          </a:prstGeom>
        </p:spPr>
      </p:pic>
      <p:pic>
        <p:nvPicPr>
          <p:cNvPr id="5" name="Picture 4">
            <a:extLst>
              <a:ext uri="{FF2B5EF4-FFF2-40B4-BE49-F238E27FC236}">
                <a16:creationId xmlns:a16="http://schemas.microsoft.com/office/drawing/2014/main" id="{FE92E983-E3B8-472C-9088-FCFA1C71AC34}"/>
              </a:ext>
            </a:extLst>
          </p:cNvPr>
          <p:cNvPicPr>
            <a:picLocks noChangeAspect="1"/>
          </p:cNvPicPr>
          <p:nvPr/>
        </p:nvPicPr>
        <p:blipFill>
          <a:blip r:embed="rId3"/>
          <a:stretch>
            <a:fillRect/>
          </a:stretch>
        </p:blipFill>
        <p:spPr>
          <a:xfrm>
            <a:off x="7398419" y="1656853"/>
            <a:ext cx="1318319" cy="853479"/>
          </a:xfrm>
          <a:prstGeom prst="rect">
            <a:avLst/>
          </a:prstGeom>
        </p:spPr>
      </p:pic>
      <p:pic>
        <p:nvPicPr>
          <p:cNvPr id="6" name="Picture 5">
            <a:extLst>
              <a:ext uri="{FF2B5EF4-FFF2-40B4-BE49-F238E27FC236}">
                <a16:creationId xmlns:a16="http://schemas.microsoft.com/office/drawing/2014/main" id="{108BD62F-54C3-4698-9628-2540016D9699}"/>
              </a:ext>
            </a:extLst>
          </p:cNvPr>
          <p:cNvPicPr>
            <a:picLocks noChangeAspect="1"/>
          </p:cNvPicPr>
          <p:nvPr/>
        </p:nvPicPr>
        <p:blipFill>
          <a:blip r:embed="rId4"/>
          <a:stretch>
            <a:fillRect/>
          </a:stretch>
        </p:blipFill>
        <p:spPr>
          <a:xfrm>
            <a:off x="7361769" y="2643361"/>
            <a:ext cx="1843106" cy="985353"/>
          </a:xfrm>
          <a:prstGeom prst="rect">
            <a:avLst/>
          </a:prstGeom>
        </p:spPr>
      </p:pic>
      <p:pic>
        <p:nvPicPr>
          <p:cNvPr id="7" name="Picture 6">
            <a:extLst>
              <a:ext uri="{FF2B5EF4-FFF2-40B4-BE49-F238E27FC236}">
                <a16:creationId xmlns:a16="http://schemas.microsoft.com/office/drawing/2014/main" id="{A6055292-5506-44AF-AA86-4122FA34A8F0}"/>
              </a:ext>
            </a:extLst>
          </p:cNvPr>
          <p:cNvPicPr>
            <a:picLocks noChangeAspect="1"/>
          </p:cNvPicPr>
          <p:nvPr/>
        </p:nvPicPr>
        <p:blipFill>
          <a:blip r:embed="rId5"/>
          <a:stretch>
            <a:fillRect/>
          </a:stretch>
        </p:blipFill>
        <p:spPr>
          <a:xfrm>
            <a:off x="7846142" y="3885907"/>
            <a:ext cx="992809" cy="837682"/>
          </a:xfrm>
          <a:prstGeom prst="rect">
            <a:avLst/>
          </a:prstGeom>
        </p:spPr>
      </p:pic>
      <p:pic>
        <p:nvPicPr>
          <p:cNvPr id="8" name="Picture 7">
            <a:extLst>
              <a:ext uri="{FF2B5EF4-FFF2-40B4-BE49-F238E27FC236}">
                <a16:creationId xmlns:a16="http://schemas.microsoft.com/office/drawing/2014/main" id="{41443244-166A-47B9-A318-E41B7BB33D1B}"/>
              </a:ext>
            </a:extLst>
          </p:cNvPr>
          <p:cNvPicPr>
            <a:picLocks noChangeAspect="1"/>
          </p:cNvPicPr>
          <p:nvPr/>
        </p:nvPicPr>
        <p:blipFill>
          <a:blip r:embed="rId6"/>
          <a:stretch>
            <a:fillRect/>
          </a:stretch>
        </p:blipFill>
        <p:spPr>
          <a:xfrm>
            <a:off x="6371302" y="5697243"/>
            <a:ext cx="2541219" cy="1026931"/>
          </a:xfrm>
          <a:prstGeom prst="rect">
            <a:avLst/>
          </a:prstGeom>
        </p:spPr>
      </p:pic>
    </p:spTree>
    <p:extLst>
      <p:ext uri="{BB962C8B-B14F-4D97-AF65-F5344CB8AC3E}">
        <p14:creationId xmlns:p14="http://schemas.microsoft.com/office/powerpoint/2010/main" val="1102076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D24C6-B276-4BAD-AD73-6863E440EB1B}"/>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2. Hard Disk Drive (HDD)</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BBB47E67-820F-4308-847F-D5082C86E40F}"/>
              </a:ext>
            </a:extLst>
          </p:cNvPr>
          <p:cNvSpPr>
            <a:spLocks noGrp="1"/>
          </p:cNvSpPr>
          <p:nvPr>
            <p:ph idx="1"/>
          </p:nvPr>
        </p:nvSpPr>
        <p:spPr>
          <a:xfrm>
            <a:off x="195416" y="1292283"/>
            <a:ext cx="7886700" cy="4351338"/>
          </a:xfrm>
        </p:spPr>
        <p:txBody>
          <a:bodyPr>
            <a:normAutofit/>
          </a:bodyPr>
          <a:lstStyle/>
          <a:p>
            <a:pPr algn="just" fontAlgn="base"/>
            <a:r>
              <a:rPr lang="en-US" dirty="0"/>
              <a:t>The </a:t>
            </a:r>
            <a:r>
              <a:rPr lang="en-US" b="1" dirty="0"/>
              <a:t>hard disk drive</a:t>
            </a:r>
            <a:r>
              <a:rPr lang="en-US" dirty="0"/>
              <a:t> is the primary storage device of the system unit. It stores the operating system, applications, and user data. Some systems may also include </a:t>
            </a:r>
            <a:r>
              <a:rPr lang="en-US" b="1" dirty="0"/>
              <a:t>removable hard drives</a:t>
            </a:r>
            <a:r>
              <a:rPr lang="en-US" dirty="0"/>
              <a:t> for additional storage or data transfer purposes.</a:t>
            </a:r>
          </a:p>
          <a:p>
            <a:pPr algn="just"/>
            <a:endParaRPr lang="en-UG" dirty="0"/>
          </a:p>
        </p:txBody>
      </p:sp>
      <p:pic>
        <p:nvPicPr>
          <p:cNvPr id="4" name="Picture 3">
            <a:extLst>
              <a:ext uri="{FF2B5EF4-FFF2-40B4-BE49-F238E27FC236}">
                <a16:creationId xmlns:a16="http://schemas.microsoft.com/office/drawing/2014/main" id="{C124D4F6-5E4A-4424-AAE3-E31CE76419AB}"/>
              </a:ext>
            </a:extLst>
          </p:cNvPr>
          <p:cNvPicPr>
            <a:picLocks noChangeAspect="1"/>
          </p:cNvPicPr>
          <p:nvPr/>
        </p:nvPicPr>
        <p:blipFill>
          <a:blip r:embed="rId2"/>
          <a:stretch>
            <a:fillRect/>
          </a:stretch>
        </p:blipFill>
        <p:spPr>
          <a:xfrm rot="16200000">
            <a:off x="5300214" y="3178455"/>
            <a:ext cx="3215136" cy="3679545"/>
          </a:xfrm>
          <a:prstGeom prst="rect">
            <a:avLst/>
          </a:prstGeom>
        </p:spPr>
      </p:pic>
    </p:spTree>
    <p:extLst>
      <p:ext uri="{BB962C8B-B14F-4D97-AF65-F5344CB8AC3E}">
        <p14:creationId xmlns:p14="http://schemas.microsoft.com/office/powerpoint/2010/main" val="250386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773C-B550-4091-A91A-8AD69E678ED8}"/>
              </a:ext>
            </a:extLst>
          </p:cNvPr>
          <p:cNvSpPr>
            <a:spLocks noGrp="1"/>
          </p:cNvSpPr>
          <p:nvPr>
            <p:ph type="title"/>
          </p:nvPr>
        </p:nvSpPr>
        <p:spPr/>
        <p:txBody>
          <a:bodyPr/>
          <a:lstStyle/>
          <a:p>
            <a:r>
              <a:rPr lang="en-US" b="1" dirty="0"/>
              <a:t>Optical Disk Drive</a:t>
            </a:r>
            <a:br>
              <a:rPr lang="en-US" b="1" dirty="0"/>
            </a:br>
            <a:endParaRPr lang="en-UG" dirty="0"/>
          </a:p>
        </p:txBody>
      </p:sp>
      <p:sp>
        <p:nvSpPr>
          <p:cNvPr id="3" name="Content Placeholder 2">
            <a:extLst>
              <a:ext uri="{FF2B5EF4-FFF2-40B4-BE49-F238E27FC236}">
                <a16:creationId xmlns:a16="http://schemas.microsoft.com/office/drawing/2014/main" id="{F64500E4-F01A-4D7E-878F-D6986B39244D}"/>
              </a:ext>
            </a:extLst>
          </p:cNvPr>
          <p:cNvSpPr>
            <a:spLocks noGrp="1"/>
          </p:cNvSpPr>
          <p:nvPr>
            <p:ph idx="1"/>
          </p:nvPr>
        </p:nvSpPr>
        <p:spPr>
          <a:xfrm>
            <a:off x="368710" y="1283110"/>
            <a:ext cx="8146640" cy="4893853"/>
          </a:xfrm>
        </p:spPr>
        <p:txBody>
          <a:bodyPr/>
          <a:lstStyle/>
          <a:p>
            <a:pPr algn="just" fontAlgn="base"/>
            <a:r>
              <a:rPr lang="en-US" dirty="0"/>
              <a:t>An </a:t>
            </a:r>
            <a:r>
              <a:rPr lang="en-US" b="1" dirty="0"/>
              <a:t>optical disk drive (ODD)</a:t>
            </a:r>
            <a:r>
              <a:rPr lang="en-US" dirty="0"/>
              <a:t> is used to read and write data on </a:t>
            </a:r>
            <a:r>
              <a:rPr lang="en-US" b="1" dirty="0"/>
              <a:t>CDs</a:t>
            </a:r>
            <a:r>
              <a:rPr lang="en-US" dirty="0"/>
              <a:t> and </a:t>
            </a:r>
            <a:r>
              <a:rPr lang="en-US" b="1" dirty="0"/>
              <a:t>DVDs</a:t>
            </a:r>
            <a:r>
              <a:rPr lang="en-US" dirty="0"/>
              <a:t>. While still present in some desktops, it is becoming less common as cloud storage and USB drives dominate.</a:t>
            </a:r>
          </a:p>
          <a:p>
            <a:pPr algn="just"/>
            <a:endParaRPr lang="en-UG" dirty="0"/>
          </a:p>
        </p:txBody>
      </p:sp>
      <p:pic>
        <p:nvPicPr>
          <p:cNvPr id="4" name="Picture 3">
            <a:extLst>
              <a:ext uri="{FF2B5EF4-FFF2-40B4-BE49-F238E27FC236}">
                <a16:creationId xmlns:a16="http://schemas.microsoft.com/office/drawing/2014/main" id="{A482CC85-E310-4D93-AC78-385D71662350}"/>
              </a:ext>
            </a:extLst>
          </p:cNvPr>
          <p:cNvPicPr>
            <a:picLocks noChangeAspect="1"/>
          </p:cNvPicPr>
          <p:nvPr/>
        </p:nvPicPr>
        <p:blipFill>
          <a:blip r:embed="rId2"/>
          <a:stretch>
            <a:fillRect/>
          </a:stretch>
        </p:blipFill>
        <p:spPr>
          <a:xfrm>
            <a:off x="3785527" y="4035825"/>
            <a:ext cx="4729823" cy="2822175"/>
          </a:xfrm>
          <a:prstGeom prst="rect">
            <a:avLst/>
          </a:prstGeom>
        </p:spPr>
      </p:pic>
    </p:spTree>
    <p:extLst>
      <p:ext uri="{BB962C8B-B14F-4D97-AF65-F5344CB8AC3E}">
        <p14:creationId xmlns:p14="http://schemas.microsoft.com/office/powerpoint/2010/main" val="1786795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5A4F2-6754-4938-95E5-844CD3B06B38}"/>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5. Computer Data Cables</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5FC18F23-8E42-43B3-8AD9-76FD8EAA49C5}"/>
              </a:ext>
            </a:extLst>
          </p:cNvPr>
          <p:cNvSpPr>
            <a:spLocks noGrp="1"/>
          </p:cNvSpPr>
          <p:nvPr>
            <p:ph idx="1"/>
          </p:nvPr>
        </p:nvSpPr>
        <p:spPr>
          <a:xfrm>
            <a:off x="191729" y="1415845"/>
            <a:ext cx="8323621" cy="4761118"/>
          </a:xfrm>
        </p:spPr>
        <p:txBody>
          <a:bodyPr/>
          <a:lstStyle/>
          <a:p>
            <a:pPr algn="just" fontAlgn="base"/>
            <a:r>
              <a:rPr lang="en-US" dirty="0"/>
              <a:t>These cables transmit data between internal components. Depending on the system, you may encounter </a:t>
            </a:r>
            <a:r>
              <a:rPr lang="en-US" b="1" dirty="0"/>
              <a:t>SATA cables</a:t>
            </a:r>
            <a:r>
              <a:rPr lang="en-US" dirty="0"/>
              <a:t> in modern systems or </a:t>
            </a:r>
            <a:r>
              <a:rPr lang="en-US" b="1" dirty="0"/>
              <a:t>EIDE cables</a:t>
            </a:r>
            <a:r>
              <a:rPr lang="en-US" dirty="0"/>
              <a:t> in older ones.</a:t>
            </a:r>
          </a:p>
          <a:p>
            <a:endParaRPr lang="en-UG" dirty="0"/>
          </a:p>
        </p:txBody>
      </p:sp>
      <p:pic>
        <p:nvPicPr>
          <p:cNvPr id="4" name="Picture 3">
            <a:extLst>
              <a:ext uri="{FF2B5EF4-FFF2-40B4-BE49-F238E27FC236}">
                <a16:creationId xmlns:a16="http://schemas.microsoft.com/office/drawing/2014/main" id="{DE4A3D87-ECEB-44ED-95B6-F69D0CBD19BC}"/>
              </a:ext>
            </a:extLst>
          </p:cNvPr>
          <p:cNvPicPr>
            <a:picLocks noChangeAspect="1"/>
          </p:cNvPicPr>
          <p:nvPr/>
        </p:nvPicPr>
        <p:blipFill>
          <a:blip r:embed="rId2"/>
          <a:stretch>
            <a:fillRect/>
          </a:stretch>
        </p:blipFill>
        <p:spPr>
          <a:xfrm>
            <a:off x="1605235" y="3429000"/>
            <a:ext cx="2150569" cy="2436359"/>
          </a:xfrm>
          <a:prstGeom prst="rect">
            <a:avLst/>
          </a:prstGeom>
        </p:spPr>
      </p:pic>
      <p:pic>
        <p:nvPicPr>
          <p:cNvPr id="5" name="Picture 4">
            <a:extLst>
              <a:ext uri="{FF2B5EF4-FFF2-40B4-BE49-F238E27FC236}">
                <a16:creationId xmlns:a16="http://schemas.microsoft.com/office/drawing/2014/main" id="{17208521-B879-4E09-8BCF-CB3DBCA1D0B1}"/>
              </a:ext>
            </a:extLst>
          </p:cNvPr>
          <p:cNvPicPr>
            <a:picLocks noChangeAspect="1"/>
          </p:cNvPicPr>
          <p:nvPr/>
        </p:nvPicPr>
        <p:blipFill>
          <a:blip r:embed="rId3"/>
          <a:stretch>
            <a:fillRect/>
          </a:stretch>
        </p:blipFill>
        <p:spPr>
          <a:xfrm>
            <a:off x="4553015" y="3462040"/>
            <a:ext cx="3165123" cy="2129135"/>
          </a:xfrm>
          <a:prstGeom prst="rect">
            <a:avLst/>
          </a:prstGeom>
        </p:spPr>
      </p:pic>
    </p:spTree>
    <p:extLst>
      <p:ext uri="{BB962C8B-B14F-4D97-AF65-F5344CB8AC3E}">
        <p14:creationId xmlns:p14="http://schemas.microsoft.com/office/powerpoint/2010/main" val="2814279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843E6-CFF6-4F36-BF27-EF2CFB6FAB98}"/>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6. Power Supply Unit (PSU)</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D93999DD-3309-4977-AF7B-469D81E4DCF2}"/>
              </a:ext>
            </a:extLst>
          </p:cNvPr>
          <p:cNvSpPr>
            <a:spLocks noGrp="1"/>
          </p:cNvSpPr>
          <p:nvPr>
            <p:ph idx="1"/>
          </p:nvPr>
        </p:nvSpPr>
        <p:spPr>
          <a:xfrm>
            <a:off x="354977" y="1027907"/>
            <a:ext cx="8685784" cy="4351338"/>
          </a:xfrm>
        </p:spPr>
        <p:txBody>
          <a:bodyPr/>
          <a:lstStyle/>
          <a:p>
            <a:pPr algn="just" fontAlgn="base"/>
            <a:r>
              <a:rPr lang="en-US" dirty="0"/>
              <a:t>The </a:t>
            </a:r>
            <a:r>
              <a:rPr lang="en-US" b="1" dirty="0"/>
              <a:t>power supply unit</a:t>
            </a:r>
            <a:r>
              <a:rPr lang="en-US" dirty="0"/>
              <a:t> is vital for converting </a:t>
            </a:r>
            <a:r>
              <a:rPr lang="en-US" b="1" dirty="0"/>
              <a:t>AC power</a:t>
            </a:r>
            <a:r>
              <a:rPr lang="en-US" dirty="0"/>
              <a:t> from a wall socket into the </a:t>
            </a:r>
            <a:r>
              <a:rPr lang="en-US" b="1" dirty="0"/>
              <a:t>DC power</a:t>
            </a:r>
            <a:r>
              <a:rPr lang="en-US" dirty="0"/>
              <a:t> needed by the computer’s components. It also powers connected peripherals, ensuring the smooth operation of the entire system.</a:t>
            </a:r>
          </a:p>
          <a:p>
            <a:pPr algn="just"/>
            <a:br>
              <a:rPr lang="en-US" dirty="0"/>
            </a:br>
            <a:endParaRPr lang="en-UG" dirty="0"/>
          </a:p>
        </p:txBody>
      </p:sp>
      <p:pic>
        <p:nvPicPr>
          <p:cNvPr id="4" name="Picture 3">
            <a:extLst>
              <a:ext uri="{FF2B5EF4-FFF2-40B4-BE49-F238E27FC236}">
                <a16:creationId xmlns:a16="http://schemas.microsoft.com/office/drawing/2014/main" id="{C9D3479E-1D51-408A-826F-AE35E95EB4C6}"/>
              </a:ext>
            </a:extLst>
          </p:cNvPr>
          <p:cNvPicPr>
            <a:picLocks noChangeAspect="1"/>
          </p:cNvPicPr>
          <p:nvPr/>
        </p:nvPicPr>
        <p:blipFill>
          <a:blip r:embed="rId2"/>
          <a:stretch>
            <a:fillRect/>
          </a:stretch>
        </p:blipFill>
        <p:spPr>
          <a:xfrm>
            <a:off x="4439264" y="3699191"/>
            <a:ext cx="3546159" cy="3158809"/>
          </a:xfrm>
          <a:prstGeom prst="rect">
            <a:avLst/>
          </a:prstGeom>
        </p:spPr>
      </p:pic>
    </p:spTree>
    <p:extLst>
      <p:ext uri="{BB962C8B-B14F-4D97-AF65-F5344CB8AC3E}">
        <p14:creationId xmlns:p14="http://schemas.microsoft.com/office/powerpoint/2010/main" val="2847353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55B8-1B56-4DFE-A147-ECE9EF6E727C}"/>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Peripheral</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F719FC07-8433-4A87-9B51-356E7D7105E7}"/>
              </a:ext>
            </a:extLst>
          </p:cNvPr>
          <p:cNvSpPr>
            <a:spLocks noGrp="1"/>
          </p:cNvSpPr>
          <p:nvPr>
            <p:ph idx="1"/>
          </p:nvPr>
        </p:nvSpPr>
        <p:spPr>
          <a:xfrm>
            <a:off x="0" y="1253613"/>
            <a:ext cx="8515350" cy="4923350"/>
          </a:xfrm>
        </p:spPr>
        <p:txBody>
          <a:bodyPr>
            <a:normAutofit fontScale="92500" lnSpcReduction="10000"/>
          </a:bodyPr>
          <a:lstStyle/>
          <a:p>
            <a:pPr algn="just" fontAlgn="base">
              <a:buFont typeface="Wingdings" panose="05000000000000000000" pitchFamily="2" charset="2"/>
              <a:buChar char="v"/>
            </a:pPr>
            <a:r>
              <a:rPr lang="en-US" dirty="0"/>
              <a:t>A </a:t>
            </a:r>
            <a:r>
              <a:rPr lang="en-US" b="1" dirty="0"/>
              <a:t>peripheral</a:t>
            </a:r>
            <a:r>
              <a:rPr lang="en-US" dirty="0"/>
              <a:t> is a “device that is used to put information into or get information out of the computer.”</a:t>
            </a:r>
          </a:p>
          <a:p>
            <a:pPr algn="just" fontAlgn="base">
              <a:buFont typeface="Wingdings" panose="05000000000000000000" pitchFamily="2" charset="2"/>
              <a:buChar char="v"/>
            </a:pPr>
            <a:r>
              <a:rPr lang="en-US" dirty="0"/>
              <a:t>A peripheral device is generally defined as any auxiliary device such as a computer mouse or keyboard, that connects to and works with the computer in some way.</a:t>
            </a:r>
          </a:p>
          <a:p>
            <a:pPr marL="0" indent="0" algn="just" fontAlgn="base">
              <a:buNone/>
            </a:pPr>
            <a:r>
              <a:rPr lang="en-US" dirty="0"/>
              <a:t>There are three different types of peripherals:</a:t>
            </a:r>
          </a:p>
          <a:p>
            <a:pPr algn="just" fontAlgn="base">
              <a:buFont typeface="Wingdings" panose="05000000000000000000" pitchFamily="2" charset="2"/>
              <a:buChar char="v"/>
            </a:pPr>
            <a:r>
              <a:rPr lang="en-US" dirty="0"/>
              <a:t>Input, used to interact with, or send data to the computer (mouse, keyboards, etc.)</a:t>
            </a:r>
          </a:p>
          <a:p>
            <a:pPr algn="just" fontAlgn="base">
              <a:buFont typeface="Wingdings" panose="05000000000000000000" pitchFamily="2" charset="2"/>
              <a:buChar char="v"/>
            </a:pPr>
            <a:r>
              <a:rPr lang="en-US" dirty="0"/>
              <a:t>Output, which provides output to the user from the computer (monitors, printers, etc.)</a:t>
            </a:r>
          </a:p>
          <a:p>
            <a:pPr algn="just" fontAlgn="base">
              <a:buFont typeface="Wingdings" panose="05000000000000000000" pitchFamily="2" charset="2"/>
              <a:buChar char="v"/>
            </a:pPr>
            <a:r>
              <a:rPr lang="en-US" dirty="0"/>
              <a:t>Storage, which stores data processed by the computer (hard drives, flash drives, etc.)</a:t>
            </a:r>
          </a:p>
          <a:p>
            <a:pPr algn="just"/>
            <a:endParaRPr lang="en-UG" dirty="0"/>
          </a:p>
        </p:txBody>
      </p:sp>
    </p:spTree>
    <p:extLst>
      <p:ext uri="{BB962C8B-B14F-4D97-AF65-F5344CB8AC3E}">
        <p14:creationId xmlns:p14="http://schemas.microsoft.com/office/powerpoint/2010/main" val="6716789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B08D9-DAE8-4E8B-AAC7-DDCA2D628425}"/>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35AE9DF8-6858-47DB-ADA9-6C40B7BB080A}"/>
              </a:ext>
            </a:extLst>
          </p:cNvPr>
          <p:cNvSpPr>
            <a:spLocks noGrp="1"/>
          </p:cNvSpPr>
          <p:nvPr>
            <p:ph idx="1"/>
          </p:nvPr>
        </p:nvSpPr>
        <p:spPr/>
        <p:txBody>
          <a:bodyPr>
            <a:normAutofit fontScale="77500" lnSpcReduction="20000"/>
          </a:bodyPr>
          <a:lstStyle/>
          <a:p>
            <a:pPr marL="0" indent="0" algn="just" fontAlgn="base">
              <a:buNone/>
            </a:pPr>
            <a:r>
              <a:rPr lang="en-US" dirty="0"/>
              <a:t>Other examples of peripherals are</a:t>
            </a:r>
          </a:p>
          <a:p>
            <a:pPr algn="just" fontAlgn="base"/>
            <a:r>
              <a:rPr lang="en-US" dirty="0"/>
              <a:t> expansion cards, </a:t>
            </a:r>
          </a:p>
          <a:p>
            <a:pPr algn="just" fontAlgn="base"/>
            <a:r>
              <a:rPr lang="en-US" dirty="0"/>
              <a:t>graphics cards,</a:t>
            </a:r>
          </a:p>
          <a:p>
            <a:pPr algn="just" fontAlgn="base"/>
            <a:r>
              <a:rPr lang="en-US" dirty="0"/>
              <a:t> image scanners,</a:t>
            </a:r>
          </a:p>
          <a:p>
            <a:pPr algn="just" fontAlgn="base"/>
            <a:r>
              <a:rPr lang="en-US" dirty="0"/>
              <a:t> tape drives, microphones, </a:t>
            </a:r>
          </a:p>
          <a:p>
            <a:pPr algn="just" fontAlgn="base"/>
            <a:r>
              <a:rPr lang="en-US" dirty="0"/>
              <a:t>loudspeakers, </a:t>
            </a:r>
          </a:p>
          <a:p>
            <a:pPr algn="just" fontAlgn="base"/>
            <a:r>
              <a:rPr lang="en-US" dirty="0"/>
              <a:t>webcams, and digital cameras</a:t>
            </a:r>
          </a:p>
          <a:p>
            <a:pPr marL="0" indent="0" algn="just" fontAlgn="base">
              <a:buNone/>
            </a:pPr>
            <a:r>
              <a:rPr lang="en-US" dirty="0"/>
              <a:t>According to the most technical definition, the only pieces of a computer </a:t>
            </a:r>
            <a:r>
              <a:rPr lang="en-US" i="1" dirty="0"/>
              <a:t>not considered</a:t>
            </a:r>
            <a:r>
              <a:rPr lang="en-US" dirty="0"/>
              <a:t> to be peripherals are the central processing unit, power supply, motherboard, and computer case.</a:t>
            </a:r>
          </a:p>
          <a:p>
            <a:pPr marL="0" indent="0" algn="just" fontAlgn="base">
              <a:buNone/>
            </a:pPr>
            <a:r>
              <a:rPr lang="en-US" dirty="0"/>
              <a:t>Usually, the word peripheral is used to refer to a device external to the computer case, like a scanner,</a:t>
            </a:r>
            <a:endParaRPr lang="en-UG" dirty="0"/>
          </a:p>
        </p:txBody>
      </p:sp>
    </p:spTree>
    <p:extLst>
      <p:ext uri="{BB962C8B-B14F-4D97-AF65-F5344CB8AC3E}">
        <p14:creationId xmlns:p14="http://schemas.microsoft.com/office/powerpoint/2010/main" val="2124525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316EC-866A-47D3-B5AD-21C832CAF9C5}"/>
              </a:ext>
            </a:extLst>
          </p:cNvPr>
          <p:cNvSpPr>
            <a:spLocks noGrp="1"/>
          </p:cNvSpPr>
          <p:nvPr>
            <p:ph type="title"/>
          </p:nvPr>
        </p:nvSpPr>
        <p:spPr>
          <a:xfrm>
            <a:off x="628650" y="365126"/>
            <a:ext cx="7886700" cy="6440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Common Peripherals</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00855487-B74D-4C37-805A-D9410530761F}"/>
              </a:ext>
            </a:extLst>
          </p:cNvPr>
          <p:cNvSpPr>
            <a:spLocks noGrp="1"/>
          </p:cNvSpPr>
          <p:nvPr>
            <p:ph idx="1"/>
          </p:nvPr>
        </p:nvSpPr>
        <p:spPr>
          <a:xfrm>
            <a:off x="199103" y="3429000"/>
            <a:ext cx="8745793" cy="5692878"/>
          </a:xfrm>
        </p:spPr>
        <p:txBody>
          <a:bodyPr numCol="2">
            <a:noAutofit/>
          </a:bodyPr>
          <a:lstStyle/>
          <a:p>
            <a:pPr fontAlgn="base"/>
            <a:endParaRPr lang="en-US" sz="2000" dirty="0"/>
          </a:p>
          <a:p>
            <a:endParaRPr lang="en-UG" sz="2000" dirty="0"/>
          </a:p>
        </p:txBody>
      </p:sp>
      <p:graphicFrame>
        <p:nvGraphicFramePr>
          <p:cNvPr id="4" name="Table 3">
            <a:extLst>
              <a:ext uri="{FF2B5EF4-FFF2-40B4-BE49-F238E27FC236}">
                <a16:creationId xmlns:a16="http://schemas.microsoft.com/office/drawing/2014/main" id="{3AAEFF0E-71DB-4B13-8D19-28B0D0640230}"/>
              </a:ext>
            </a:extLst>
          </p:cNvPr>
          <p:cNvGraphicFramePr>
            <a:graphicFrameLocks noGrp="1"/>
          </p:cNvGraphicFramePr>
          <p:nvPr>
            <p:extLst>
              <p:ext uri="{D42A27DB-BD31-4B8C-83A1-F6EECF244321}">
                <p14:modId xmlns:p14="http://schemas.microsoft.com/office/powerpoint/2010/main" val="3321399946"/>
              </p:ext>
            </p:extLst>
          </p:nvPr>
        </p:nvGraphicFramePr>
        <p:xfrm>
          <a:off x="199103" y="1027907"/>
          <a:ext cx="8745794" cy="4792170"/>
        </p:xfrm>
        <a:graphic>
          <a:graphicData uri="http://schemas.openxmlformats.org/drawingml/2006/table">
            <a:tbl>
              <a:tblPr firstRow="1" bandRow="1">
                <a:tableStyleId>{E8B1032C-EA38-4F05-BA0D-38AFFFC7BED3}</a:tableStyleId>
              </a:tblPr>
              <a:tblGrid>
                <a:gridCol w="4372897">
                  <a:extLst>
                    <a:ext uri="{9D8B030D-6E8A-4147-A177-3AD203B41FA5}">
                      <a16:colId xmlns:a16="http://schemas.microsoft.com/office/drawing/2014/main" val="2172550642"/>
                    </a:ext>
                  </a:extLst>
                </a:gridCol>
                <a:gridCol w="4372897">
                  <a:extLst>
                    <a:ext uri="{9D8B030D-6E8A-4147-A177-3AD203B41FA5}">
                      <a16:colId xmlns:a16="http://schemas.microsoft.com/office/drawing/2014/main" val="2173277215"/>
                    </a:ext>
                  </a:extLst>
                </a:gridCol>
              </a:tblGrid>
              <a:tr h="2776416">
                <a:tc>
                  <a:txBody>
                    <a:bodyPr/>
                    <a:lstStyle/>
                    <a:p>
                      <a:pPr fontAlgn="base"/>
                      <a:r>
                        <a:rPr lang="en-US" sz="2000" dirty="0"/>
                        <a:t>Input</a:t>
                      </a:r>
                    </a:p>
                    <a:p>
                      <a:pPr lvl="1" fontAlgn="base"/>
                      <a:r>
                        <a:rPr lang="en-US" sz="2000" dirty="0"/>
                        <a:t>Keyboard, Computer mouse, Graphic tablet, Touchscreen</a:t>
                      </a:r>
                    </a:p>
                    <a:p>
                      <a:pPr lvl="1" fontAlgn="base"/>
                      <a:r>
                        <a:rPr lang="en-US" sz="2000" dirty="0"/>
                        <a:t>Barcode reader, Image scanner</a:t>
                      </a:r>
                    </a:p>
                    <a:p>
                      <a:pPr lvl="1" fontAlgn="base"/>
                      <a:r>
                        <a:rPr lang="en-US" sz="2000" dirty="0"/>
                        <a:t>Microphone, Webcam, Game controller, Light pen, Scanner</a:t>
                      </a:r>
                    </a:p>
                    <a:p>
                      <a:pPr lvl="1" fontAlgn="base"/>
                      <a:r>
                        <a:rPr lang="en-US" sz="2000" dirty="0"/>
                        <a:t>Digital camera</a:t>
                      </a:r>
                      <a:endParaRPr lang="en-UG" dirty="0"/>
                    </a:p>
                  </a:txBody>
                  <a:tcPr/>
                </a:tc>
                <a:tc>
                  <a:txBody>
                    <a:bodyPr/>
                    <a:lstStyle/>
                    <a:p>
                      <a:pPr fontAlgn="base"/>
                      <a:r>
                        <a:rPr lang="en-US" sz="2000" dirty="0"/>
                        <a:t>Output</a:t>
                      </a:r>
                    </a:p>
                    <a:p>
                      <a:pPr lvl="1" fontAlgn="base"/>
                      <a:r>
                        <a:rPr lang="en-US" sz="2000" dirty="0"/>
                        <a:t>Computer display</a:t>
                      </a:r>
                    </a:p>
                    <a:p>
                      <a:pPr lvl="1" fontAlgn="base"/>
                      <a:r>
                        <a:rPr lang="en-US" sz="2000" dirty="0"/>
                        <a:t>Printer</a:t>
                      </a:r>
                    </a:p>
                    <a:p>
                      <a:pPr lvl="1" fontAlgn="base"/>
                      <a:r>
                        <a:rPr lang="en-US" sz="2000" dirty="0"/>
                        <a:t>Projector</a:t>
                      </a:r>
                    </a:p>
                    <a:p>
                      <a:pPr lvl="1" fontAlgn="base"/>
                      <a:r>
                        <a:rPr lang="en-US" sz="2000" dirty="0"/>
                        <a:t>Speaker</a:t>
                      </a:r>
                    </a:p>
                    <a:p>
                      <a:endParaRPr lang="en-UG" dirty="0"/>
                    </a:p>
                  </a:txBody>
                  <a:tcPr/>
                </a:tc>
                <a:extLst>
                  <a:ext uri="{0D108BD9-81ED-4DB2-BD59-A6C34878D82A}">
                    <a16:rowId xmlns:a16="http://schemas.microsoft.com/office/drawing/2014/main" val="3156270833"/>
                  </a:ext>
                </a:extLst>
              </a:tr>
              <a:tr h="2015754">
                <a:tc>
                  <a:txBody>
                    <a:bodyPr/>
                    <a:lstStyle/>
                    <a:p>
                      <a:pPr fontAlgn="base"/>
                      <a:r>
                        <a:rPr lang="en-US" sz="2000" dirty="0" err="1"/>
                        <a:t>Input/Output</a:t>
                      </a:r>
                      <a:endParaRPr lang="en-US" sz="2000" dirty="0"/>
                    </a:p>
                    <a:p>
                      <a:pPr lvl="1" fontAlgn="base"/>
                      <a:r>
                        <a:rPr lang="en-US" sz="2000" dirty="0"/>
                        <a:t>Modem</a:t>
                      </a:r>
                    </a:p>
                    <a:p>
                      <a:pPr lvl="1" fontAlgn="base"/>
                      <a:r>
                        <a:rPr lang="en-US" sz="2000" dirty="0"/>
                        <a:t>Network interface controller (NIC)</a:t>
                      </a:r>
                    </a:p>
                    <a:p>
                      <a:endParaRPr lang="en-UG" dirty="0"/>
                    </a:p>
                  </a:txBody>
                  <a:tcPr/>
                </a:tc>
                <a:tc>
                  <a:txBody>
                    <a:bodyPr/>
                    <a:lstStyle/>
                    <a:p>
                      <a:pPr fontAlgn="base"/>
                      <a:r>
                        <a:rPr lang="en-US" sz="2000" dirty="0"/>
                        <a:t>Storage devices</a:t>
                      </a:r>
                    </a:p>
                    <a:p>
                      <a:pPr lvl="1" fontAlgn="base"/>
                      <a:r>
                        <a:rPr lang="en-US" sz="2000" dirty="0"/>
                        <a:t>Floppy disk drive, Flash drive</a:t>
                      </a:r>
                    </a:p>
                    <a:p>
                      <a:pPr lvl="1" fontAlgn="base"/>
                      <a:r>
                        <a:rPr lang="en-US" sz="2000" dirty="0"/>
                        <a:t>Disk drive, Smartphone or Tablet computer storage interface</a:t>
                      </a:r>
                    </a:p>
                    <a:p>
                      <a:pPr lvl="1" fontAlgn="base"/>
                      <a:r>
                        <a:rPr lang="en-US" sz="2000" dirty="0"/>
                        <a:t>CD/DVD drive </a:t>
                      </a:r>
                      <a:endParaRPr lang="en-UG" dirty="0"/>
                    </a:p>
                  </a:txBody>
                  <a:tcPr/>
                </a:tc>
                <a:extLst>
                  <a:ext uri="{0D108BD9-81ED-4DB2-BD59-A6C34878D82A}">
                    <a16:rowId xmlns:a16="http://schemas.microsoft.com/office/drawing/2014/main" val="1370223317"/>
                  </a:ext>
                </a:extLst>
              </a:tr>
            </a:tbl>
          </a:graphicData>
        </a:graphic>
      </p:graphicFrame>
    </p:spTree>
    <p:extLst>
      <p:ext uri="{BB962C8B-B14F-4D97-AF65-F5344CB8AC3E}">
        <p14:creationId xmlns:p14="http://schemas.microsoft.com/office/powerpoint/2010/main" val="1968969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94F92-5896-4580-8E40-3FBE5D14DF06}"/>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Input Devices</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0A631C92-21EF-4F50-B649-62245ED7EDBC}"/>
              </a:ext>
            </a:extLst>
          </p:cNvPr>
          <p:cNvSpPr>
            <a:spLocks noGrp="1"/>
          </p:cNvSpPr>
          <p:nvPr>
            <p:ph idx="1"/>
          </p:nvPr>
        </p:nvSpPr>
        <p:spPr>
          <a:xfrm>
            <a:off x="309716" y="1371600"/>
            <a:ext cx="8205634" cy="4805363"/>
          </a:xfrm>
        </p:spPr>
        <p:txBody>
          <a:bodyPr>
            <a:noAutofit/>
          </a:bodyPr>
          <a:lstStyle/>
          <a:p>
            <a:pPr algn="just" fontAlgn="base"/>
            <a:r>
              <a:rPr lang="en-US" sz="2400" dirty="0"/>
              <a:t>In computing, an </a:t>
            </a:r>
            <a:r>
              <a:rPr lang="en-US" sz="2400" b="1" dirty="0"/>
              <a:t>input device</a:t>
            </a:r>
            <a:r>
              <a:rPr lang="en-US" sz="2400" dirty="0"/>
              <a:t> is a peripheral (piece of computer hardware equipment) used to provide data and control signals to an information processing system such as a computer or other information appliance. Examples of input devices include keyboards, mice, scanners, digital cameras and joysticks. </a:t>
            </a:r>
            <a:endParaRPr lang="en-UG" sz="2400" dirty="0"/>
          </a:p>
        </p:txBody>
      </p:sp>
    </p:spTree>
    <p:extLst>
      <p:ext uri="{BB962C8B-B14F-4D97-AF65-F5344CB8AC3E}">
        <p14:creationId xmlns:p14="http://schemas.microsoft.com/office/powerpoint/2010/main" val="445257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FB1F-5568-4D4E-ABFA-78E41D4B8FFD}"/>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altLang="en-UG" sz="3600" dirty="0">
                <a:solidFill>
                  <a:srgbClr val="0070C0"/>
                </a:solidFill>
                <a:latin typeface="Baskerville Old Face" pitchFamily="18" charset="0"/>
              </a:rPr>
              <a:t>I</a:t>
            </a:r>
            <a:r>
              <a:rPr lang="en-UG" altLang="en-UG" sz="3600" dirty="0" err="1">
                <a:solidFill>
                  <a:srgbClr val="0070C0"/>
                </a:solidFill>
                <a:latin typeface="Baskerville Old Face" pitchFamily="18" charset="0"/>
              </a:rPr>
              <a:t>maging</a:t>
            </a:r>
            <a:r>
              <a:rPr lang="en-UG" altLang="en-UG" sz="3600" dirty="0">
                <a:solidFill>
                  <a:srgbClr val="0070C0"/>
                </a:solidFill>
                <a:latin typeface="Baskerville Old Face" pitchFamily="18" charset="0"/>
              </a:rPr>
              <a:t> and </a:t>
            </a:r>
            <a:r>
              <a:rPr lang="en-US" altLang="en-UG" sz="3600" dirty="0">
                <a:solidFill>
                  <a:srgbClr val="0070C0"/>
                </a:solidFill>
                <a:latin typeface="Baskerville Old Face" pitchFamily="18" charset="0"/>
              </a:rPr>
              <a:t>video </a:t>
            </a:r>
            <a:r>
              <a:rPr lang="en-UG" altLang="en-UG" sz="3600" dirty="0">
                <a:solidFill>
                  <a:srgbClr val="0070C0"/>
                </a:solidFill>
                <a:latin typeface="Baskerville Old Face" pitchFamily="18" charset="0"/>
              </a:rPr>
              <a:t>Input Devices</a:t>
            </a: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938595B4-137E-4B16-882A-7E1CA8B7A5AC}"/>
              </a:ext>
            </a:extLst>
          </p:cNvPr>
          <p:cNvSpPr>
            <a:spLocks noGrp="1"/>
          </p:cNvSpPr>
          <p:nvPr>
            <p:ph idx="1"/>
          </p:nvPr>
        </p:nvSpPr>
        <p:spPr/>
        <p:txBody>
          <a:bodyPr>
            <a:noAutofit/>
          </a:bodyPr>
          <a:lstStyle/>
          <a:p>
            <a:pPr marL="0" lvl="0" indent="0" eaLnBrk="0" fontAlgn="base" hangingPunct="0">
              <a:lnSpc>
                <a:spcPct val="100000"/>
              </a:lnSpc>
              <a:spcBef>
                <a:spcPct val="0"/>
              </a:spcBef>
              <a:spcAft>
                <a:spcPct val="0"/>
              </a:spcAft>
              <a:buNone/>
            </a:pPr>
            <a:r>
              <a:rPr lang="en-UG" altLang="en-UG" sz="2000" dirty="0">
                <a:solidFill>
                  <a:srgbClr val="373D3F"/>
                </a:solidFill>
              </a:rPr>
              <a:t>Video input devices are used to digitize images or video from the outside world into the computer. The information can be stored in a multitude of formats depending on the user’s requirement.</a:t>
            </a:r>
            <a:endParaRPr lang="en-UG" sz="2000" dirty="0"/>
          </a:p>
        </p:txBody>
      </p:sp>
      <p:sp>
        <p:nvSpPr>
          <p:cNvPr id="4" name="Rectangle 1">
            <a:extLst>
              <a:ext uri="{FF2B5EF4-FFF2-40B4-BE49-F238E27FC236}">
                <a16:creationId xmlns:a16="http://schemas.microsoft.com/office/drawing/2014/main" id="{69AE362C-2121-45B3-B063-9605C8C78ADA}"/>
              </a:ext>
            </a:extLst>
          </p:cNvPr>
          <p:cNvSpPr>
            <a:spLocks noChangeArrowheads="1"/>
          </p:cNvSpPr>
          <p:nvPr/>
        </p:nvSpPr>
        <p:spPr bwMode="auto">
          <a:xfrm>
            <a:off x="3753730" y="4887556"/>
            <a:ext cx="400689" cy="9174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96750" tIns="79350" rIns="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G" altLang="en-UG" sz="4400" b="0" i="0" u="none" strike="noStrike" cap="none" normalizeH="0" baseline="0" dirty="0">
              <a:ln>
                <a:noFill/>
              </a:ln>
              <a:solidFill>
                <a:srgbClr val="373D3F"/>
              </a:solidFill>
              <a:effectLst/>
              <a:latin typeface="proxima-nova"/>
            </a:endParaRPr>
          </a:p>
        </p:txBody>
      </p:sp>
      <p:sp>
        <p:nvSpPr>
          <p:cNvPr id="5" name="Rectangle 4">
            <a:extLst>
              <a:ext uri="{FF2B5EF4-FFF2-40B4-BE49-F238E27FC236}">
                <a16:creationId xmlns:a16="http://schemas.microsoft.com/office/drawing/2014/main" id="{7D128CF8-4604-4F8E-A3F4-E2419570BD83}"/>
              </a:ext>
            </a:extLst>
          </p:cNvPr>
          <p:cNvSpPr/>
          <p:nvPr/>
        </p:nvSpPr>
        <p:spPr>
          <a:xfrm>
            <a:off x="439738" y="2945640"/>
            <a:ext cx="7273668" cy="4801314"/>
          </a:xfrm>
          <a:prstGeom prst="rect">
            <a:avLst/>
          </a:prstGeom>
        </p:spPr>
        <p:txBody>
          <a:bodyPr wrap="square" numCol="2">
            <a:spAutoFit/>
          </a:bodyPr>
          <a:lstStyle/>
          <a:p>
            <a:pPr lvl="0" eaLnBrk="0" fontAlgn="base" hangingPunct="0">
              <a:spcBef>
                <a:spcPct val="0"/>
              </a:spcBef>
              <a:spcAft>
                <a:spcPct val="0"/>
              </a:spcAft>
              <a:buFontTx/>
              <a:buChar char="•"/>
            </a:pPr>
            <a:r>
              <a:rPr lang="en-UG" altLang="en-UG" sz="2000" dirty="0">
                <a:solidFill>
                  <a:srgbClr val="373D3F"/>
                </a:solidFill>
              </a:rPr>
              <a:t>Digital camera</a:t>
            </a:r>
            <a:r>
              <a:rPr lang="en-US" altLang="en-UG" sz="2000" dirty="0">
                <a:solidFill>
                  <a:srgbClr val="373D3F"/>
                </a:solidFill>
              </a:rPr>
              <a:t>,</a:t>
            </a:r>
            <a:endParaRPr lang="en-UG" altLang="en-UG" sz="2000" dirty="0">
              <a:solidFill>
                <a:srgbClr val="373D3F"/>
              </a:solidFill>
            </a:endParaRPr>
          </a:p>
          <a:p>
            <a:pPr lvl="0" eaLnBrk="0" fontAlgn="base" hangingPunct="0">
              <a:spcBef>
                <a:spcPct val="0"/>
              </a:spcBef>
              <a:spcAft>
                <a:spcPct val="0"/>
              </a:spcAft>
              <a:buFontTx/>
              <a:buChar char="•"/>
            </a:pPr>
            <a:r>
              <a:rPr lang="en-UG" altLang="en-UG" sz="2000" dirty="0">
                <a:solidFill>
                  <a:srgbClr val="373D3F"/>
                </a:solidFill>
              </a:rPr>
              <a:t>Digital camcorder</a:t>
            </a:r>
          </a:p>
          <a:p>
            <a:pPr lvl="0" eaLnBrk="0" fontAlgn="base" hangingPunct="0">
              <a:spcBef>
                <a:spcPct val="0"/>
              </a:spcBef>
              <a:spcAft>
                <a:spcPct val="0"/>
              </a:spcAft>
              <a:buFontTx/>
              <a:buChar char="•"/>
            </a:pPr>
            <a:r>
              <a:rPr lang="en-UG" altLang="en-UG" sz="2000" dirty="0">
                <a:solidFill>
                  <a:srgbClr val="373D3F"/>
                </a:solidFill>
              </a:rPr>
              <a:t>Portable media player</a:t>
            </a:r>
          </a:p>
          <a:p>
            <a:pPr lvl="0" eaLnBrk="0" fontAlgn="base" hangingPunct="0">
              <a:spcBef>
                <a:spcPct val="0"/>
              </a:spcBef>
              <a:spcAft>
                <a:spcPct val="0"/>
              </a:spcAft>
              <a:buFontTx/>
              <a:buChar char="•"/>
            </a:pPr>
            <a:r>
              <a:rPr lang="en-UG" altLang="en-UG" sz="2000" dirty="0">
                <a:solidFill>
                  <a:srgbClr val="373D3F"/>
                </a:solidFill>
              </a:rPr>
              <a:t>Webcam</a:t>
            </a:r>
          </a:p>
          <a:p>
            <a:pPr lvl="0" eaLnBrk="0" fontAlgn="base" hangingPunct="0">
              <a:spcBef>
                <a:spcPct val="0"/>
              </a:spcBef>
              <a:spcAft>
                <a:spcPct val="0"/>
              </a:spcAft>
              <a:buFontTx/>
              <a:buChar char="•"/>
            </a:pPr>
            <a:r>
              <a:rPr lang="en-UG" altLang="en-UG" sz="2000" dirty="0">
                <a:solidFill>
                  <a:srgbClr val="373D3F"/>
                </a:solidFill>
              </a:rPr>
              <a:t>Microsoft Kinect Sensor</a:t>
            </a:r>
          </a:p>
          <a:p>
            <a:pPr lvl="0" eaLnBrk="0" fontAlgn="base" hangingPunct="0">
              <a:spcBef>
                <a:spcPct val="0"/>
              </a:spcBef>
              <a:spcAft>
                <a:spcPct val="0"/>
              </a:spcAft>
              <a:buFontTx/>
              <a:buChar char="•"/>
            </a:pPr>
            <a:r>
              <a:rPr lang="en-UG" altLang="en-UG" sz="2000" dirty="0">
                <a:solidFill>
                  <a:srgbClr val="373D3F"/>
                </a:solidFill>
              </a:rPr>
              <a:t>Image scanner</a:t>
            </a:r>
          </a:p>
          <a:p>
            <a:pPr lvl="0" eaLnBrk="0" fontAlgn="base" hangingPunct="0">
              <a:spcBef>
                <a:spcPct val="0"/>
              </a:spcBef>
              <a:spcAft>
                <a:spcPct val="0"/>
              </a:spcAft>
              <a:buFontTx/>
              <a:buChar char="•"/>
            </a:pPr>
            <a:r>
              <a:rPr lang="en-UG" altLang="en-UG" sz="2000" dirty="0">
                <a:solidFill>
                  <a:srgbClr val="373D3F"/>
                </a:solidFill>
              </a:rPr>
              <a:t>Fingerprint scanner</a:t>
            </a:r>
          </a:p>
          <a:p>
            <a:pPr lvl="0" eaLnBrk="0" fontAlgn="base" hangingPunct="0">
              <a:spcBef>
                <a:spcPct val="0"/>
              </a:spcBef>
              <a:spcAft>
                <a:spcPct val="0"/>
              </a:spcAft>
              <a:buFontTx/>
              <a:buChar char="•"/>
            </a:pPr>
            <a:r>
              <a:rPr lang="en-UG" altLang="en-UG" sz="2000" dirty="0">
                <a:solidFill>
                  <a:srgbClr val="373D3F"/>
                </a:solidFill>
              </a:rPr>
              <a:t>Barcode reader</a:t>
            </a:r>
          </a:p>
          <a:p>
            <a:pPr lvl="0" eaLnBrk="0" fontAlgn="base" hangingPunct="0">
              <a:spcBef>
                <a:spcPct val="0"/>
              </a:spcBef>
              <a:spcAft>
                <a:spcPct val="0"/>
              </a:spcAft>
              <a:buFontTx/>
              <a:buChar char="•"/>
            </a:pPr>
            <a:r>
              <a:rPr lang="en-UG" altLang="en-UG" sz="2000" dirty="0">
                <a:solidFill>
                  <a:srgbClr val="373D3F"/>
                </a:solidFill>
              </a:rPr>
              <a:t>3D scanner</a:t>
            </a:r>
          </a:p>
          <a:p>
            <a:pPr lvl="0" eaLnBrk="0" fontAlgn="base" hangingPunct="0">
              <a:spcBef>
                <a:spcPct val="0"/>
              </a:spcBef>
              <a:spcAft>
                <a:spcPct val="0"/>
              </a:spcAft>
              <a:buFontTx/>
              <a:buChar char="•"/>
            </a:pPr>
            <a:endParaRPr lang="en-US" altLang="en-UG" sz="2000" dirty="0">
              <a:solidFill>
                <a:srgbClr val="373D3F"/>
              </a:solidFill>
            </a:endParaRPr>
          </a:p>
          <a:p>
            <a:pPr lvl="0" eaLnBrk="0" fontAlgn="base" hangingPunct="0">
              <a:spcBef>
                <a:spcPct val="0"/>
              </a:spcBef>
              <a:spcAft>
                <a:spcPct val="0"/>
              </a:spcAft>
              <a:buFontTx/>
              <a:buChar char="•"/>
            </a:pPr>
            <a:endParaRPr lang="en-US" altLang="en-UG" sz="2000" dirty="0">
              <a:solidFill>
                <a:srgbClr val="373D3F"/>
              </a:solidFill>
            </a:endParaRPr>
          </a:p>
          <a:p>
            <a:pPr lvl="0" eaLnBrk="0" fontAlgn="base" hangingPunct="0">
              <a:spcBef>
                <a:spcPct val="0"/>
              </a:spcBef>
              <a:spcAft>
                <a:spcPct val="0"/>
              </a:spcAft>
              <a:buFontTx/>
              <a:buChar char="•"/>
            </a:pPr>
            <a:endParaRPr lang="en-US" altLang="en-UG" sz="2000" dirty="0">
              <a:solidFill>
                <a:srgbClr val="373D3F"/>
              </a:solidFill>
            </a:endParaRPr>
          </a:p>
          <a:p>
            <a:pPr lvl="0" eaLnBrk="0" fontAlgn="base" hangingPunct="0">
              <a:spcBef>
                <a:spcPct val="0"/>
              </a:spcBef>
              <a:spcAft>
                <a:spcPct val="0"/>
              </a:spcAft>
              <a:buFontTx/>
              <a:buChar char="•"/>
            </a:pPr>
            <a:endParaRPr lang="en-US" altLang="en-UG" sz="2000" dirty="0">
              <a:solidFill>
                <a:srgbClr val="373D3F"/>
              </a:solidFill>
            </a:endParaRPr>
          </a:p>
          <a:p>
            <a:pPr lvl="0" eaLnBrk="0" fontAlgn="base" hangingPunct="0">
              <a:spcBef>
                <a:spcPct val="0"/>
              </a:spcBef>
              <a:spcAft>
                <a:spcPct val="0"/>
              </a:spcAft>
              <a:buFontTx/>
              <a:buChar char="•"/>
            </a:pPr>
            <a:endParaRPr lang="en-US" altLang="en-UG" sz="2000" dirty="0">
              <a:solidFill>
                <a:srgbClr val="373D3F"/>
              </a:solidFill>
            </a:endParaRPr>
          </a:p>
          <a:p>
            <a:pPr lvl="0" eaLnBrk="0" fontAlgn="base" hangingPunct="0">
              <a:spcBef>
                <a:spcPct val="0"/>
              </a:spcBef>
              <a:spcAft>
                <a:spcPct val="0"/>
              </a:spcAft>
              <a:buFontTx/>
              <a:buChar char="•"/>
            </a:pPr>
            <a:endParaRPr lang="en-US" altLang="en-UG" sz="2000" dirty="0">
              <a:solidFill>
                <a:srgbClr val="373D3F"/>
              </a:solidFill>
            </a:endParaRPr>
          </a:p>
          <a:p>
            <a:pPr lvl="0" eaLnBrk="0" fontAlgn="base" hangingPunct="0">
              <a:spcBef>
                <a:spcPct val="0"/>
              </a:spcBef>
              <a:spcAft>
                <a:spcPct val="0"/>
              </a:spcAft>
              <a:buFontTx/>
              <a:buChar char="•"/>
            </a:pPr>
            <a:r>
              <a:rPr lang="en-UG" altLang="en-UG" sz="2000" dirty="0">
                <a:solidFill>
                  <a:srgbClr val="373D3F"/>
                </a:solidFill>
              </a:rPr>
              <a:t>Laser rangefinder</a:t>
            </a:r>
          </a:p>
          <a:p>
            <a:pPr lvl="0" eaLnBrk="0" fontAlgn="base" hangingPunct="0">
              <a:spcBef>
                <a:spcPct val="0"/>
              </a:spcBef>
              <a:spcAft>
                <a:spcPct val="0"/>
              </a:spcAft>
              <a:buFontTx/>
              <a:buChar char="•"/>
            </a:pPr>
            <a:r>
              <a:rPr lang="en-UG" altLang="en-UG" sz="2000" dirty="0">
                <a:solidFill>
                  <a:srgbClr val="373D3F"/>
                </a:solidFill>
              </a:rPr>
              <a:t>Eye gaze tracker</a:t>
            </a:r>
            <a:endParaRPr lang="en-US" altLang="en-UG" sz="2000" dirty="0">
              <a:solidFill>
                <a:srgbClr val="373D3F"/>
              </a:solidFill>
            </a:endParaRPr>
          </a:p>
          <a:p>
            <a:pPr lvl="0" eaLnBrk="0" fontAlgn="base" hangingPunct="0">
              <a:spcBef>
                <a:spcPct val="0"/>
              </a:spcBef>
              <a:spcAft>
                <a:spcPct val="0"/>
              </a:spcAft>
              <a:buFontTx/>
              <a:buChar char="•"/>
            </a:pPr>
            <a:r>
              <a:rPr lang="en-UG" altLang="en-UG" sz="2000" dirty="0">
                <a:solidFill>
                  <a:srgbClr val="373D3F"/>
                </a:solidFill>
              </a:rPr>
              <a:t>Medical Imaging</a:t>
            </a:r>
            <a:endParaRPr lang="en-UG" altLang="en-UG" sz="2000" dirty="0"/>
          </a:p>
          <a:p>
            <a:pPr lvl="0" eaLnBrk="0" fontAlgn="base" hangingPunct="0">
              <a:spcBef>
                <a:spcPct val="0"/>
              </a:spcBef>
              <a:spcAft>
                <a:spcPct val="0"/>
              </a:spcAft>
              <a:buFontTx/>
              <a:buChar char="•"/>
            </a:pPr>
            <a:r>
              <a:rPr lang="en-UG" altLang="en-UG" sz="2000" dirty="0">
                <a:solidFill>
                  <a:srgbClr val="373D3F"/>
                </a:solidFill>
              </a:rPr>
              <a:t>Computed tomography</a:t>
            </a:r>
          </a:p>
          <a:p>
            <a:pPr lvl="0" eaLnBrk="0" fontAlgn="base" hangingPunct="0">
              <a:spcBef>
                <a:spcPct val="0"/>
              </a:spcBef>
              <a:spcAft>
                <a:spcPct val="0"/>
              </a:spcAft>
              <a:buFontTx/>
              <a:buChar char="•"/>
            </a:pPr>
            <a:r>
              <a:rPr lang="en-UG" altLang="en-UG" sz="2000" dirty="0">
                <a:solidFill>
                  <a:srgbClr val="373D3F"/>
                </a:solidFill>
              </a:rPr>
              <a:t>Magnetic resonance imaging</a:t>
            </a:r>
          </a:p>
          <a:p>
            <a:pPr lvl="0" eaLnBrk="0" fontAlgn="base" hangingPunct="0">
              <a:spcBef>
                <a:spcPct val="0"/>
              </a:spcBef>
              <a:spcAft>
                <a:spcPct val="0"/>
              </a:spcAft>
              <a:buFontTx/>
              <a:buChar char="•"/>
            </a:pPr>
            <a:r>
              <a:rPr lang="en-UG" altLang="en-UG" sz="2000" dirty="0">
                <a:solidFill>
                  <a:srgbClr val="373D3F"/>
                </a:solidFill>
              </a:rPr>
              <a:t>Positron emission tomography</a:t>
            </a:r>
          </a:p>
          <a:p>
            <a:pPr lvl="0" eaLnBrk="0" fontAlgn="base" hangingPunct="0">
              <a:spcBef>
                <a:spcPct val="0"/>
              </a:spcBef>
              <a:spcAft>
                <a:spcPct val="0"/>
              </a:spcAft>
              <a:buFontTx/>
              <a:buChar char="•"/>
            </a:pPr>
            <a:r>
              <a:rPr lang="en-UG" altLang="en-UG" sz="2000" dirty="0">
                <a:solidFill>
                  <a:srgbClr val="373D3F"/>
                </a:solidFill>
              </a:rPr>
              <a:t>Medical ultrasonography</a:t>
            </a:r>
          </a:p>
        </p:txBody>
      </p:sp>
      <p:pic>
        <p:nvPicPr>
          <p:cNvPr id="6" name="Picture 5">
            <a:extLst>
              <a:ext uri="{FF2B5EF4-FFF2-40B4-BE49-F238E27FC236}">
                <a16:creationId xmlns:a16="http://schemas.microsoft.com/office/drawing/2014/main" id="{93F19838-CF77-41FC-B535-1EF6BA245D58}"/>
              </a:ext>
            </a:extLst>
          </p:cNvPr>
          <p:cNvPicPr>
            <a:picLocks noChangeAspect="1"/>
          </p:cNvPicPr>
          <p:nvPr/>
        </p:nvPicPr>
        <p:blipFill>
          <a:blip r:embed="rId2"/>
          <a:stretch>
            <a:fillRect/>
          </a:stretch>
        </p:blipFill>
        <p:spPr>
          <a:xfrm>
            <a:off x="1226632" y="5781612"/>
            <a:ext cx="1345409" cy="994433"/>
          </a:xfrm>
          <a:prstGeom prst="rect">
            <a:avLst/>
          </a:prstGeom>
        </p:spPr>
      </p:pic>
      <p:pic>
        <p:nvPicPr>
          <p:cNvPr id="7" name="Picture 6">
            <a:extLst>
              <a:ext uri="{FF2B5EF4-FFF2-40B4-BE49-F238E27FC236}">
                <a16:creationId xmlns:a16="http://schemas.microsoft.com/office/drawing/2014/main" id="{9A90BDF7-2E93-4F81-9AAB-8CCDDB51895C}"/>
              </a:ext>
            </a:extLst>
          </p:cNvPr>
          <p:cNvPicPr>
            <a:picLocks noChangeAspect="1"/>
          </p:cNvPicPr>
          <p:nvPr/>
        </p:nvPicPr>
        <p:blipFill>
          <a:blip r:embed="rId3"/>
          <a:stretch>
            <a:fillRect/>
          </a:stretch>
        </p:blipFill>
        <p:spPr>
          <a:xfrm>
            <a:off x="2721485" y="5620478"/>
            <a:ext cx="1195965" cy="1137467"/>
          </a:xfrm>
          <a:prstGeom prst="rect">
            <a:avLst/>
          </a:prstGeom>
        </p:spPr>
      </p:pic>
      <p:pic>
        <p:nvPicPr>
          <p:cNvPr id="10" name="Picture 9">
            <a:extLst>
              <a:ext uri="{FF2B5EF4-FFF2-40B4-BE49-F238E27FC236}">
                <a16:creationId xmlns:a16="http://schemas.microsoft.com/office/drawing/2014/main" id="{A323CE76-4D49-45C6-9538-EE975465C1C2}"/>
              </a:ext>
            </a:extLst>
          </p:cNvPr>
          <p:cNvPicPr>
            <a:picLocks noChangeAspect="1"/>
          </p:cNvPicPr>
          <p:nvPr/>
        </p:nvPicPr>
        <p:blipFill>
          <a:blip r:embed="rId4"/>
          <a:stretch>
            <a:fillRect/>
          </a:stretch>
        </p:blipFill>
        <p:spPr>
          <a:xfrm>
            <a:off x="3949579" y="5754424"/>
            <a:ext cx="1430594" cy="1021621"/>
          </a:xfrm>
          <a:prstGeom prst="rect">
            <a:avLst/>
          </a:prstGeom>
        </p:spPr>
      </p:pic>
      <p:pic>
        <p:nvPicPr>
          <p:cNvPr id="11" name="Picture 10">
            <a:extLst>
              <a:ext uri="{FF2B5EF4-FFF2-40B4-BE49-F238E27FC236}">
                <a16:creationId xmlns:a16="http://schemas.microsoft.com/office/drawing/2014/main" id="{63FC6F3F-AF6F-418D-9A56-C05F84933677}"/>
              </a:ext>
            </a:extLst>
          </p:cNvPr>
          <p:cNvPicPr>
            <a:picLocks noChangeAspect="1"/>
          </p:cNvPicPr>
          <p:nvPr/>
        </p:nvPicPr>
        <p:blipFill>
          <a:blip r:embed="rId5"/>
          <a:stretch>
            <a:fillRect/>
          </a:stretch>
        </p:blipFill>
        <p:spPr>
          <a:xfrm>
            <a:off x="30667" y="5781612"/>
            <a:ext cx="1195965" cy="1060573"/>
          </a:xfrm>
          <a:prstGeom prst="rect">
            <a:avLst/>
          </a:prstGeom>
        </p:spPr>
      </p:pic>
      <p:pic>
        <p:nvPicPr>
          <p:cNvPr id="12" name="Picture 11">
            <a:extLst>
              <a:ext uri="{FF2B5EF4-FFF2-40B4-BE49-F238E27FC236}">
                <a16:creationId xmlns:a16="http://schemas.microsoft.com/office/drawing/2014/main" id="{8AF89D02-6B83-4DFC-A358-A41BDFD878C2}"/>
              </a:ext>
            </a:extLst>
          </p:cNvPr>
          <p:cNvPicPr>
            <a:picLocks noChangeAspect="1"/>
          </p:cNvPicPr>
          <p:nvPr/>
        </p:nvPicPr>
        <p:blipFill>
          <a:blip r:embed="rId6"/>
          <a:stretch>
            <a:fillRect/>
          </a:stretch>
        </p:blipFill>
        <p:spPr>
          <a:xfrm>
            <a:off x="5412301" y="5700799"/>
            <a:ext cx="1394445" cy="1086199"/>
          </a:xfrm>
          <a:prstGeom prst="rect">
            <a:avLst/>
          </a:prstGeom>
        </p:spPr>
      </p:pic>
      <p:pic>
        <p:nvPicPr>
          <p:cNvPr id="13" name="Picture 12">
            <a:extLst>
              <a:ext uri="{FF2B5EF4-FFF2-40B4-BE49-F238E27FC236}">
                <a16:creationId xmlns:a16="http://schemas.microsoft.com/office/drawing/2014/main" id="{BF65A211-622A-467B-9180-98EAF0BC6D50}"/>
              </a:ext>
            </a:extLst>
          </p:cNvPr>
          <p:cNvPicPr>
            <a:picLocks noChangeAspect="1"/>
          </p:cNvPicPr>
          <p:nvPr/>
        </p:nvPicPr>
        <p:blipFill>
          <a:blip r:embed="rId7"/>
          <a:stretch>
            <a:fillRect/>
          </a:stretch>
        </p:blipFill>
        <p:spPr>
          <a:xfrm>
            <a:off x="6953431" y="5784342"/>
            <a:ext cx="1267002" cy="809738"/>
          </a:xfrm>
          <a:prstGeom prst="rect">
            <a:avLst/>
          </a:prstGeom>
        </p:spPr>
      </p:pic>
      <p:pic>
        <p:nvPicPr>
          <p:cNvPr id="14" name="Picture 13">
            <a:extLst>
              <a:ext uri="{FF2B5EF4-FFF2-40B4-BE49-F238E27FC236}">
                <a16:creationId xmlns:a16="http://schemas.microsoft.com/office/drawing/2014/main" id="{B8620044-FF67-40BF-A48F-9F0E34FB7CFF}"/>
              </a:ext>
            </a:extLst>
          </p:cNvPr>
          <p:cNvPicPr>
            <a:picLocks noChangeAspect="1"/>
          </p:cNvPicPr>
          <p:nvPr/>
        </p:nvPicPr>
        <p:blipFill>
          <a:blip r:embed="rId8"/>
          <a:stretch>
            <a:fillRect/>
          </a:stretch>
        </p:blipFill>
        <p:spPr>
          <a:xfrm>
            <a:off x="7488013" y="2711056"/>
            <a:ext cx="1655987" cy="1056870"/>
          </a:xfrm>
          <a:prstGeom prst="rect">
            <a:avLst/>
          </a:prstGeom>
        </p:spPr>
      </p:pic>
      <p:pic>
        <p:nvPicPr>
          <p:cNvPr id="15" name="Picture 14">
            <a:extLst>
              <a:ext uri="{FF2B5EF4-FFF2-40B4-BE49-F238E27FC236}">
                <a16:creationId xmlns:a16="http://schemas.microsoft.com/office/drawing/2014/main" id="{B29EDAEF-5CED-47AE-8945-9DF14F334A65}"/>
              </a:ext>
            </a:extLst>
          </p:cNvPr>
          <p:cNvPicPr>
            <a:picLocks noChangeAspect="1"/>
          </p:cNvPicPr>
          <p:nvPr/>
        </p:nvPicPr>
        <p:blipFill>
          <a:blip r:embed="rId9"/>
          <a:stretch>
            <a:fillRect/>
          </a:stretch>
        </p:blipFill>
        <p:spPr>
          <a:xfrm>
            <a:off x="7487722" y="3819325"/>
            <a:ext cx="1656278" cy="1082675"/>
          </a:xfrm>
          <a:prstGeom prst="rect">
            <a:avLst/>
          </a:prstGeom>
        </p:spPr>
      </p:pic>
      <p:pic>
        <p:nvPicPr>
          <p:cNvPr id="16" name="Picture 15">
            <a:extLst>
              <a:ext uri="{FF2B5EF4-FFF2-40B4-BE49-F238E27FC236}">
                <a16:creationId xmlns:a16="http://schemas.microsoft.com/office/drawing/2014/main" id="{FDCB69AE-9555-4341-882F-45DDBD82899C}"/>
              </a:ext>
            </a:extLst>
          </p:cNvPr>
          <p:cNvPicPr>
            <a:picLocks noChangeAspect="1"/>
          </p:cNvPicPr>
          <p:nvPr/>
        </p:nvPicPr>
        <p:blipFill>
          <a:blip r:embed="rId10"/>
          <a:stretch>
            <a:fillRect/>
          </a:stretch>
        </p:blipFill>
        <p:spPr>
          <a:xfrm>
            <a:off x="6848155" y="94968"/>
            <a:ext cx="2295845" cy="1257475"/>
          </a:xfrm>
          <a:prstGeom prst="rect">
            <a:avLst/>
          </a:prstGeom>
        </p:spPr>
      </p:pic>
      <p:pic>
        <p:nvPicPr>
          <p:cNvPr id="17" name="Picture 16">
            <a:extLst>
              <a:ext uri="{FF2B5EF4-FFF2-40B4-BE49-F238E27FC236}">
                <a16:creationId xmlns:a16="http://schemas.microsoft.com/office/drawing/2014/main" id="{B4DDC6C7-80AC-4AC3-815D-C168891AA619}"/>
              </a:ext>
            </a:extLst>
          </p:cNvPr>
          <p:cNvPicPr>
            <a:picLocks noChangeAspect="1"/>
          </p:cNvPicPr>
          <p:nvPr/>
        </p:nvPicPr>
        <p:blipFill>
          <a:blip r:embed="rId11"/>
          <a:stretch>
            <a:fillRect/>
          </a:stretch>
        </p:blipFill>
        <p:spPr>
          <a:xfrm>
            <a:off x="7638203" y="4877257"/>
            <a:ext cx="1191472" cy="809738"/>
          </a:xfrm>
          <a:prstGeom prst="rect">
            <a:avLst/>
          </a:prstGeom>
        </p:spPr>
      </p:pic>
    </p:spTree>
    <p:extLst>
      <p:ext uri="{BB962C8B-B14F-4D97-AF65-F5344CB8AC3E}">
        <p14:creationId xmlns:p14="http://schemas.microsoft.com/office/powerpoint/2010/main" val="2582158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79247-774F-4E09-A73C-CA2B22AB6695}"/>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Audio Input Devices</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CE588F02-264B-4954-A2FA-82980E36E543}"/>
              </a:ext>
            </a:extLst>
          </p:cNvPr>
          <p:cNvSpPr>
            <a:spLocks noGrp="1"/>
          </p:cNvSpPr>
          <p:nvPr>
            <p:ph idx="1"/>
          </p:nvPr>
        </p:nvSpPr>
        <p:spPr>
          <a:xfrm>
            <a:off x="0" y="1825625"/>
            <a:ext cx="8515350" cy="4351338"/>
          </a:xfrm>
        </p:spPr>
        <p:txBody>
          <a:bodyPr/>
          <a:lstStyle/>
          <a:p>
            <a:pPr algn="just" fontAlgn="base"/>
            <a:r>
              <a:rPr lang="en-US" dirty="0"/>
              <a:t>Audio input devices are used to capture sound. In some cases, an audio output device can be used as an input device, in order to capture produced sound.</a:t>
            </a:r>
          </a:p>
          <a:p>
            <a:pPr algn="just" fontAlgn="base"/>
            <a:r>
              <a:rPr lang="en-US" dirty="0"/>
              <a:t>Microphones</a:t>
            </a:r>
          </a:p>
          <a:p>
            <a:pPr algn="just" fontAlgn="base"/>
            <a:r>
              <a:rPr lang="en-US" dirty="0"/>
              <a:t>MIDI keyboard or other digital musical instrument</a:t>
            </a:r>
          </a:p>
          <a:p>
            <a:pPr algn="just"/>
            <a:endParaRPr lang="en-UG" dirty="0"/>
          </a:p>
        </p:txBody>
      </p:sp>
      <p:pic>
        <p:nvPicPr>
          <p:cNvPr id="4" name="Picture 3">
            <a:extLst>
              <a:ext uri="{FF2B5EF4-FFF2-40B4-BE49-F238E27FC236}">
                <a16:creationId xmlns:a16="http://schemas.microsoft.com/office/drawing/2014/main" id="{77708E2C-8837-4BDA-AE42-3FFA3A984D49}"/>
              </a:ext>
            </a:extLst>
          </p:cNvPr>
          <p:cNvPicPr>
            <a:picLocks noChangeAspect="1"/>
          </p:cNvPicPr>
          <p:nvPr/>
        </p:nvPicPr>
        <p:blipFill>
          <a:blip r:embed="rId2"/>
          <a:stretch>
            <a:fillRect/>
          </a:stretch>
        </p:blipFill>
        <p:spPr>
          <a:xfrm>
            <a:off x="2160369" y="4562772"/>
            <a:ext cx="3444018" cy="2420653"/>
          </a:xfrm>
          <a:prstGeom prst="rect">
            <a:avLst/>
          </a:prstGeom>
        </p:spPr>
      </p:pic>
    </p:spTree>
    <p:extLst>
      <p:ext uri="{BB962C8B-B14F-4D97-AF65-F5344CB8AC3E}">
        <p14:creationId xmlns:p14="http://schemas.microsoft.com/office/powerpoint/2010/main" val="1089180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7211F-F770-40AC-A718-3E3810E27664}"/>
              </a:ext>
            </a:extLst>
          </p:cNvPr>
          <p:cNvSpPr>
            <a:spLocks noGrp="1"/>
          </p:cNvSpPr>
          <p:nvPr>
            <p:ph type="title"/>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68580" tIns="34290" rIns="68580" bIns="34290" rtlCol="0" anchor="ctr">
            <a:noAutofit/>
          </a:bodyPr>
          <a:lstStyle/>
          <a:p>
            <a:r>
              <a:rPr lang="en-US" sz="3600" dirty="0">
                <a:solidFill>
                  <a:srgbClr val="0070C0"/>
                </a:solidFill>
                <a:latin typeface="Baskerville Old Face" pitchFamily="18" charset="0"/>
              </a:rPr>
              <a:t>Output Devices</a:t>
            </a:r>
            <a:br>
              <a:rPr lang="en-US" sz="3600" dirty="0">
                <a:solidFill>
                  <a:srgbClr val="0070C0"/>
                </a:solidFill>
                <a:latin typeface="Baskerville Old Face" pitchFamily="18" charset="0"/>
              </a:rPr>
            </a:br>
            <a:endParaRPr lang="en-UG" sz="3600" dirty="0">
              <a:solidFill>
                <a:srgbClr val="0070C0"/>
              </a:solidFill>
              <a:latin typeface="Baskerville Old Face" pitchFamily="18" charset="0"/>
            </a:endParaRPr>
          </a:p>
        </p:txBody>
      </p:sp>
      <p:sp>
        <p:nvSpPr>
          <p:cNvPr id="3" name="Content Placeholder 2">
            <a:extLst>
              <a:ext uri="{FF2B5EF4-FFF2-40B4-BE49-F238E27FC236}">
                <a16:creationId xmlns:a16="http://schemas.microsoft.com/office/drawing/2014/main" id="{09F5D51F-7209-4C6D-B7B6-404460365566}"/>
              </a:ext>
            </a:extLst>
          </p:cNvPr>
          <p:cNvSpPr>
            <a:spLocks noGrp="1"/>
          </p:cNvSpPr>
          <p:nvPr>
            <p:ph idx="1"/>
          </p:nvPr>
        </p:nvSpPr>
        <p:spPr>
          <a:xfrm>
            <a:off x="628649" y="1825625"/>
            <a:ext cx="8382615" cy="4351338"/>
          </a:xfrm>
        </p:spPr>
        <p:txBody>
          <a:bodyPr>
            <a:normAutofit/>
          </a:bodyPr>
          <a:lstStyle/>
          <a:p>
            <a:pPr algn="just" fontAlgn="base"/>
            <a:r>
              <a:rPr lang="en-US" sz="2400" dirty="0"/>
              <a:t>An </a:t>
            </a:r>
            <a:r>
              <a:rPr lang="en-US" sz="2400" b="1" dirty="0"/>
              <a:t>output device</a:t>
            </a:r>
            <a:r>
              <a:rPr lang="en-US" sz="2400" dirty="0"/>
              <a:t> is any piece of computer hardware equipment used to communicate the results of data processing carried out by an information processing system (such as a computer) which converts the electronically generated information into human-readable form.</a:t>
            </a:r>
          </a:p>
          <a:p>
            <a:pPr algn="just" fontAlgn="base"/>
            <a:r>
              <a:rPr lang="en-US" sz="2400" b="1" dirty="0"/>
              <a:t>Display Devices</a:t>
            </a:r>
          </a:p>
          <a:p>
            <a:pPr algn="just" fontAlgn="base"/>
            <a:r>
              <a:rPr lang="en-US" sz="2400" dirty="0"/>
              <a:t>A display device is an output device that visually conveys text, graphics, and video information. Information shown on a display device is called soft </a:t>
            </a:r>
            <a:r>
              <a:rPr lang="en-US" sz="2400" dirty="0" err="1"/>
              <a:t>copybecause</a:t>
            </a:r>
            <a:r>
              <a:rPr lang="en-US" sz="2400" dirty="0"/>
              <a:t> the information exists electronically and is displayed for a temporary period of time. Display devices include CRT monitors, LCD monitors and displays, gas plasma monitors, and television</a:t>
            </a:r>
          </a:p>
          <a:p>
            <a:pPr algn="just"/>
            <a:endParaRPr lang="en-UG" sz="2400" dirty="0"/>
          </a:p>
        </p:txBody>
      </p:sp>
      <p:pic>
        <p:nvPicPr>
          <p:cNvPr id="4" name="Picture 3">
            <a:extLst>
              <a:ext uri="{FF2B5EF4-FFF2-40B4-BE49-F238E27FC236}">
                <a16:creationId xmlns:a16="http://schemas.microsoft.com/office/drawing/2014/main" id="{2B796340-EC12-44DB-8651-7549DB681027}"/>
              </a:ext>
            </a:extLst>
          </p:cNvPr>
          <p:cNvPicPr>
            <a:picLocks noChangeAspect="1"/>
          </p:cNvPicPr>
          <p:nvPr/>
        </p:nvPicPr>
        <p:blipFill>
          <a:blip r:embed="rId2"/>
          <a:stretch>
            <a:fillRect/>
          </a:stretch>
        </p:blipFill>
        <p:spPr>
          <a:xfrm>
            <a:off x="6297561" y="-147754"/>
            <a:ext cx="2713703" cy="1888737"/>
          </a:xfrm>
          <a:prstGeom prst="rect">
            <a:avLst/>
          </a:prstGeom>
        </p:spPr>
      </p:pic>
    </p:spTree>
    <p:extLst>
      <p:ext uri="{BB962C8B-B14F-4D97-AF65-F5344CB8AC3E}">
        <p14:creationId xmlns:p14="http://schemas.microsoft.com/office/powerpoint/2010/main" val="1960824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91CF3FA-4F9E-469E-A5DF-9F8039EBC79E}"/>
              </a:ext>
            </a:extLst>
          </p:cNvPr>
          <p:cNvSpPr>
            <a:spLocks noGrp="1"/>
          </p:cNvSpPr>
          <p:nvPr>
            <p:ph type="title"/>
          </p:nvPr>
        </p:nvSpPr>
        <p:spPr/>
        <p:txBody>
          <a:bodyPr/>
          <a:lstStyle/>
          <a:p>
            <a:r>
              <a:rPr lang="en-US" dirty="0"/>
              <a:t>Storage Device</a:t>
            </a:r>
            <a:endParaRPr lang="en-UG" dirty="0"/>
          </a:p>
        </p:txBody>
      </p:sp>
      <p:sp>
        <p:nvSpPr>
          <p:cNvPr id="6" name="Content Placeholder 5">
            <a:extLst>
              <a:ext uri="{FF2B5EF4-FFF2-40B4-BE49-F238E27FC236}">
                <a16:creationId xmlns:a16="http://schemas.microsoft.com/office/drawing/2014/main" id="{72DB8E65-52C1-4D39-8648-CAB908D400B6}"/>
              </a:ext>
            </a:extLst>
          </p:cNvPr>
          <p:cNvSpPr>
            <a:spLocks noGrp="1"/>
          </p:cNvSpPr>
          <p:nvPr>
            <p:ph idx="1"/>
          </p:nvPr>
        </p:nvSpPr>
        <p:spPr>
          <a:xfrm>
            <a:off x="422172" y="2506662"/>
            <a:ext cx="7886700" cy="4351338"/>
          </a:xfrm>
        </p:spPr>
        <p:txBody>
          <a:bodyPr>
            <a:normAutofit/>
          </a:bodyPr>
          <a:lstStyle/>
          <a:p>
            <a:pPr algn="just"/>
            <a:r>
              <a:rPr lang="en-US" sz="2400" dirty="0"/>
              <a:t>The storage unit is a part of the computer system which is employed to store the information and instructions to be processed. A storage device is an integral part of the computer hardware which stores information/data to process the result of any computational work. Without a storage device, a computer would not be able to run or even boot up. Or in other words, we can say that a storage device is hardware that is used for storing, porting, or extracting data files. It can also store information/data both temporarily and permanently</a:t>
            </a:r>
            <a:endParaRPr lang="en-UG" sz="2400" dirty="0"/>
          </a:p>
        </p:txBody>
      </p:sp>
      <p:pic>
        <p:nvPicPr>
          <p:cNvPr id="7" name="Content Placeholder 3">
            <a:extLst>
              <a:ext uri="{FF2B5EF4-FFF2-40B4-BE49-F238E27FC236}">
                <a16:creationId xmlns:a16="http://schemas.microsoft.com/office/drawing/2014/main" id="{6BE2BD91-6143-47F2-85C9-078F4B5F7B48}"/>
              </a:ext>
            </a:extLst>
          </p:cNvPr>
          <p:cNvPicPr>
            <a:picLocks noChangeAspect="1"/>
          </p:cNvPicPr>
          <p:nvPr/>
        </p:nvPicPr>
        <p:blipFill>
          <a:blip r:embed="rId2"/>
          <a:stretch>
            <a:fillRect/>
          </a:stretch>
        </p:blipFill>
        <p:spPr>
          <a:xfrm>
            <a:off x="4572000" y="57682"/>
            <a:ext cx="4439264" cy="2219632"/>
          </a:xfrm>
          <a:prstGeom prst="rect">
            <a:avLst/>
          </a:prstGeom>
        </p:spPr>
      </p:pic>
    </p:spTree>
    <p:extLst>
      <p:ext uri="{BB962C8B-B14F-4D97-AF65-F5344CB8AC3E}">
        <p14:creationId xmlns:p14="http://schemas.microsoft.com/office/powerpoint/2010/main" val="754690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44962-7D8E-4996-82B0-6ECC06BE426C}"/>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A2E8731F-09A3-44B0-AA53-A8E221E6FD12}"/>
              </a:ext>
            </a:extLst>
          </p:cNvPr>
          <p:cNvSpPr>
            <a:spLocks noGrp="1"/>
          </p:cNvSpPr>
          <p:nvPr>
            <p:ph idx="1"/>
          </p:nvPr>
        </p:nvSpPr>
        <p:spPr/>
        <p:txBody>
          <a:bodyPr/>
          <a:lstStyle/>
          <a:p>
            <a:pPr marL="0" indent="0">
              <a:buNone/>
            </a:pPr>
            <a:r>
              <a:rPr lang="en-US" dirty="0"/>
              <a:t>(a)Explain the functions of any 10 of the following</a:t>
            </a:r>
          </a:p>
          <a:p>
            <a:pPr marL="971550" lvl="1" indent="-514350">
              <a:buFont typeface="+mj-lt"/>
              <a:buAutoNum type="romanLcPeriod"/>
            </a:pPr>
            <a:r>
              <a:rPr lang="en-US" dirty="0"/>
              <a:t>Input devices</a:t>
            </a:r>
          </a:p>
          <a:p>
            <a:pPr marL="971550" lvl="1" indent="-514350">
              <a:buFont typeface="+mj-lt"/>
              <a:buAutoNum type="romanLcPeriod"/>
            </a:pPr>
            <a:r>
              <a:rPr lang="en-US" dirty="0"/>
              <a:t>Output devices</a:t>
            </a:r>
          </a:p>
          <a:p>
            <a:pPr marL="971550" lvl="1" indent="-514350">
              <a:buFont typeface="+mj-lt"/>
              <a:buAutoNum type="romanLcPeriod"/>
            </a:pPr>
            <a:r>
              <a:rPr lang="en-US" dirty="0"/>
              <a:t>Storage devices</a:t>
            </a:r>
          </a:p>
          <a:p>
            <a:pPr marL="0" indent="0">
              <a:buNone/>
            </a:pPr>
            <a:r>
              <a:rPr lang="en-US" dirty="0"/>
              <a:t>(b) Define the term booting</a:t>
            </a:r>
          </a:p>
          <a:p>
            <a:pPr marL="0" indent="0">
              <a:buNone/>
            </a:pPr>
            <a:r>
              <a:rPr lang="en-US" dirty="0"/>
              <a:t>(c)Explain any two types of booting </a:t>
            </a:r>
          </a:p>
          <a:p>
            <a:pPr marL="0" indent="0">
              <a:buNone/>
            </a:pPr>
            <a:r>
              <a:rPr lang="en-US" dirty="0"/>
              <a:t>(d)Describe classifications of computer memory</a:t>
            </a:r>
          </a:p>
          <a:p>
            <a:endParaRPr lang="en-US" dirty="0"/>
          </a:p>
        </p:txBody>
      </p:sp>
    </p:spTree>
    <p:extLst>
      <p:ext uri="{BB962C8B-B14F-4D97-AF65-F5344CB8AC3E}">
        <p14:creationId xmlns:p14="http://schemas.microsoft.com/office/powerpoint/2010/main" val="859346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451</TotalTime>
  <Words>1100</Words>
  <Application>Microsoft Office PowerPoint</Application>
  <PresentationFormat>On-screen Show (4:3)</PresentationFormat>
  <Paragraphs>197</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Baskerville Old Face</vt:lpstr>
      <vt:lpstr>Calibri</vt:lpstr>
      <vt:lpstr>Calibri Light</vt:lpstr>
      <vt:lpstr>proxima-nova</vt:lpstr>
      <vt:lpstr>Wingdings</vt:lpstr>
      <vt:lpstr>Office Theme</vt:lpstr>
      <vt:lpstr>Computer Hardware</vt:lpstr>
      <vt:lpstr>A Computer-definition</vt:lpstr>
      <vt:lpstr>PowerPoint Presentation</vt:lpstr>
      <vt:lpstr>Functionalities of A Computer</vt:lpstr>
      <vt:lpstr>A computer system</vt:lpstr>
      <vt:lpstr>Components of a computer system </vt:lpstr>
      <vt:lpstr>Hardware components </vt:lpstr>
      <vt:lpstr>Input Unit </vt:lpstr>
      <vt:lpstr>Central Processing Unit (CPU) – The Brain of the Computer </vt:lpstr>
      <vt:lpstr>Arithmetic Logic Unit (ALU) </vt:lpstr>
      <vt:lpstr>b. Control Unit (CU) </vt:lpstr>
      <vt:lpstr>c. Registers </vt:lpstr>
      <vt:lpstr>Memory / Storage Unit </vt:lpstr>
      <vt:lpstr>b. Secondary Storage: </vt:lpstr>
      <vt:lpstr>4. Output Unit </vt:lpstr>
      <vt:lpstr>System Unit</vt:lpstr>
      <vt:lpstr> What makes up the system unit    </vt:lpstr>
      <vt:lpstr>Key Functions of the System Unit </vt:lpstr>
      <vt:lpstr>Major Components of the System Unit </vt:lpstr>
      <vt:lpstr>PowerPoint Presentation</vt:lpstr>
      <vt:lpstr>2. Hard Disk Drive (HDD) </vt:lpstr>
      <vt:lpstr>Optical Disk Drive </vt:lpstr>
      <vt:lpstr>5. Computer Data Cables </vt:lpstr>
      <vt:lpstr>6. Power Supply Unit (PSU) </vt:lpstr>
      <vt:lpstr>Peripheral </vt:lpstr>
      <vt:lpstr>PowerPoint Presentation</vt:lpstr>
      <vt:lpstr>Common Peripherals </vt:lpstr>
      <vt:lpstr>Input Devices </vt:lpstr>
      <vt:lpstr>Imaging and video Input Devices</vt:lpstr>
      <vt:lpstr>Audio Input Devices </vt:lpstr>
      <vt:lpstr>Output Devices </vt:lpstr>
      <vt:lpstr>Storage Device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Hardware</dc:title>
  <dc:creator>Andrew Karitani</dc:creator>
  <cp:lastModifiedBy>Andrew Karitani</cp:lastModifiedBy>
  <cp:revision>43</cp:revision>
  <dcterms:created xsi:type="dcterms:W3CDTF">2025-08-20T03:03:31Z</dcterms:created>
  <dcterms:modified xsi:type="dcterms:W3CDTF">2025-08-29T17:25:35Z</dcterms:modified>
</cp:coreProperties>
</file>